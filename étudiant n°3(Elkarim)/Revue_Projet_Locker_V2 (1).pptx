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A156AAA-6ACD-4F83-8A62-B8B43DEBB8F7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9F3A6D-A4C7-479B-9B75-C241DEA7FA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A52C64-D6CB-46B1-81FF-B3FB75D289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3E76A1-5B49-4E01-AF26-FAE8BE963A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886A97-C48A-4AC4-9772-3F74814E6A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89B111-5A74-4774-B6FF-FD1FE5E841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0987B5-3B43-4A0E-A44A-D467CADB5A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009DD7-88DE-489A-8702-D2DE1ADCA4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0D45E3-0BF3-4975-AC7A-DED0D76647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2C2FFC-CEB4-439A-AA48-945676F191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6DE071-19DB-459F-9FE8-E9CA15A0F6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5ADEA3-8450-4824-B4E3-5C41157447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D6B7B0-B4DF-41CA-8BDD-B33E2941E2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C2BC14-9363-4DD8-923A-53FDAC1EF3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EA1272-5227-4A41-81BA-05ED9C5C29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DAC6D0-23E1-4BFD-B07D-C8D92136C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A20A26-5CAD-4ACF-A845-362CA47322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081751-437E-4363-AC7B-965F3AEB21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01ED76-3C07-4888-A913-5951DD3611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B9B167-1869-4926-84A8-A1AE69A653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73470E-5E9E-4753-809B-FACE56EC3F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B5AC67-D6B9-4729-A94D-19E7CFDD22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D778B4-01D7-4C3B-A4E3-576729706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F9F7D1-A90D-4646-A898-A408965CC5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195BD9-45E3-4CD4-87AC-D13DFCB769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65760" y="640080"/>
            <a:ext cx="82288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pc="799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📦 LOCKER</a:t>
            </a:r>
            <a:endParaRPr lang="fr-FR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65760" y="173736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Système de gestion de casiers intelligents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365760" y="2331720"/>
            <a:ext cx="54864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365760" y="2514600"/>
            <a:ext cx="73144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Revue de Projet  —  BTS CIEL IR  |  Session 2026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Cité scolaire Mauriac-Desgranges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8"/>
          <p:cNvSpPr/>
          <p:nvPr/>
        </p:nvSpPr>
        <p:spPr>
          <a:xfrm>
            <a:off x="2423160" y="342900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4480560" y="342900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37960" y="342900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65760" y="4480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06070"/>
                </a:solidFill>
                <a:effectLst/>
                <a:uFillTx/>
                <a:latin typeface="Calibri"/>
                <a:ea typeface="Calibri"/>
              </a:rPr>
              <a:t>Tuteurs : L. Guerin  —  J. Kaczorek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228600" y="13258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228600" y="13258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228600" y="13258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22960" y="13989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Contexte &amp; Objectifs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822960" y="17283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Pourquoi un locker ? Cahier des charges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228600" y="22402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228600" y="22402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228600" y="22402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822960" y="23133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Architecture globale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822960" y="26427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Déploiement, technologies, diagrammes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3"/>
          <p:cNvSpPr/>
          <p:nvPr/>
        </p:nvSpPr>
        <p:spPr>
          <a:xfrm>
            <a:off x="228600" y="31546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228600" y="31546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228600" y="31546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822960" y="32277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Maquette physique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822960" y="35571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Locker, Raspberry Pi, Arduino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8"/>
          <p:cNvSpPr/>
          <p:nvPr/>
        </p:nvSpPr>
        <p:spPr>
          <a:xfrm>
            <a:off x="228600" y="4069080"/>
            <a:ext cx="4205520" cy="749160"/>
          </a:xfrm>
          <a:prstGeom prst="rect">
            <a:avLst/>
          </a:prstGeom>
          <a:solidFill>
            <a:srgbClr val="EFF9FF"/>
          </a:solidFill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9"/>
          <p:cNvSpPr/>
          <p:nvPr/>
        </p:nvSpPr>
        <p:spPr>
          <a:xfrm>
            <a:off x="228600" y="4069080"/>
            <a:ext cx="502200" cy="7491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0"/>
          <p:cNvSpPr/>
          <p:nvPr/>
        </p:nvSpPr>
        <p:spPr>
          <a:xfrm>
            <a:off x="228600" y="40690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822960" y="41421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Site web — ma partie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822960" y="44715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React, code, fonctionnalités développées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4663440" y="13258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4"/>
          <p:cNvSpPr/>
          <p:nvPr/>
        </p:nvSpPr>
        <p:spPr>
          <a:xfrm>
            <a:off x="4663440" y="13258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4663440" y="13258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6"/>
          <p:cNvSpPr/>
          <p:nvPr/>
        </p:nvSpPr>
        <p:spPr>
          <a:xfrm>
            <a:off x="5257800" y="13989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API PHP &amp; Base de données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5257800" y="17283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Endpoints, schéma BDD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4663440" y="22402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9"/>
          <p:cNvSpPr/>
          <p:nvPr/>
        </p:nvSpPr>
        <p:spPr>
          <a:xfrm>
            <a:off x="4663440" y="22402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4663440" y="22402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31"/>
          <p:cNvSpPr/>
          <p:nvPr/>
        </p:nvSpPr>
        <p:spPr>
          <a:xfrm>
            <a:off x="5257800" y="23133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Diagrammes UML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2"/>
          <p:cNvSpPr/>
          <p:nvPr/>
        </p:nvSpPr>
        <p:spPr>
          <a:xfrm>
            <a:off x="5257800" y="26427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Cas d'utilisation, séquence, états, exigences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3"/>
          <p:cNvSpPr/>
          <p:nvPr/>
        </p:nvSpPr>
        <p:spPr>
          <a:xfrm>
            <a:off x="4663440" y="3154680"/>
            <a:ext cx="4205520" cy="74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4"/>
          <p:cNvSpPr/>
          <p:nvPr/>
        </p:nvSpPr>
        <p:spPr>
          <a:xfrm>
            <a:off x="4663440" y="3154680"/>
            <a:ext cx="502200" cy="7491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5"/>
          <p:cNvSpPr/>
          <p:nvPr/>
        </p:nvSpPr>
        <p:spPr>
          <a:xfrm>
            <a:off x="4663440" y="3154680"/>
            <a:ext cx="5022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07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6"/>
          <p:cNvSpPr/>
          <p:nvPr/>
        </p:nvSpPr>
        <p:spPr>
          <a:xfrm>
            <a:off x="5257800" y="322776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Ce qui reste à faire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7"/>
          <p:cNvSpPr/>
          <p:nvPr/>
        </p:nvSpPr>
        <p:spPr>
          <a:xfrm>
            <a:off x="5257800" y="3557160"/>
            <a:ext cx="3474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2FA, PDF, SMS, app mobile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Contexte &amp; Objectifs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201240" y="1280160"/>
            <a:ext cx="4114080" cy="34740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320040" y="13899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6CA8"/>
                </a:solidFill>
                <a:effectLst/>
                <a:uFillTx/>
                <a:latin typeface="Calibri"/>
                <a:ea typeface="Calibri"/>
              </a:rPr>
              <a:t>Contexte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320040" y="1783080"/>
            <a:ext cx="383976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L'essor du e-commerce crée des défis de livraison. Les lockers permettent de récupérer des colis 24h/24 - 7j/7, comme chez La Poste, Amazon ou Vinted.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Dans le cadre du BTS CIEL, nous réalisons une maquette fonctionnelle complète d'un système de locker intelligent connecté.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4572000" y="129852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4663440" y="1398960"/>
            <a:ext cx="346680" cy="3466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120640" y="135324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Base de données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5120640" y="159120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MySQL sécurisée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4572000" y="197496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4663440" y="2075760"/>
            <a:ext cx="346680" cy="3466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5120640" y="203004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API PHP REST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5120640" y="226764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Création, suivi, authentification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4572000" y="265176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4663440" y="2752200"/>
            <a:ext cx="346680" cy="3466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5120640" y="270648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Site web React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5120640" y="294444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Multi-rôles (client, livreur)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4572000" y="332856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0"/>
          <p:cNvSpPr/>
          <p:nvPr/>
        </p:nvSpPr>
        <p:spPr>
          <a:xfrm>
            <a:off x="4663440" y="3429000"/>
            <a:ext cx="346680" cy="346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5120640" y="338328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App mobile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5120640" y="362088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Livreur : scan QR code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4572000" y="400500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4663440" y="4105800"/>
            <a:ext cx="346680" cy="3466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5120640" y="406008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Raspberry Pi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5120640" y="429768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Pilotage physique du locker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Image 0" descr="preencoded.png"/>
          <p:cNvPicPr/>
          <p:nvPr/>
        </p:nvPicPr>
        <p:blipFill>
          <a:blip r:embed="rId1"/>
          <a:stretch/>
        </p:blipFill>
        <p:spPr>
          <a:xfrm>
            <a:off x="320040" y="3291840"/>
            <a:ext cx="2193840" cy="164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27"/>
          <p:cNvSpPr/>
          <p:nvPr/>
        </p:nvSpPr>
        <p:spPr>
          <a:xfrm>
            <a:off x="320040" y="4892040"/>
            <a:ext cx="2193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Maquette physique du locker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Architecture globale du système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0" descr="preencoded.png"/>
          <p:cNvPicPr/>
          <p:nvPr/>
        </p:nvPicPr>
        <p:blipFill>
          <a:blip r:embed="rId1"/>
          <a:stretch/>
        </p:blipFill>
        <p:spPr>
          <a:xfrm>
            <a:off x="201240" y="1234440"/>
            <a:ext cx="8740800" cy="374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4"/>
          <p:cNvSpPr/>
          <p:nvPr/>
        </p:nvSpPr>
        <p:spPr>
          <a:xfrm>
            <a:off x="201240" y="4846320"/>
            <a:ext cx="8740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Diagramme de déploiement — Système de Locker Intelligent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Technologies utilisées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201240" y="1261800"/>
            <a:ext cx="201096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5"/>
          <p:cNvSpPr/>
          <p:nvPr/>
        </p:nvSpPr>
        <p:spPr>
          <a:xfrm>
            <a:off x="201240" y="1261800"/>
            <a:ext cx="2010960" cy="474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201240" y="1261800"/>
            <a:ext cx="2010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292680" y="182880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React (Vite)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292680" y="24688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CSS custom classes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9"/>
          <p:cNvSpPr/>
          <p:nvPr/>
        </p:nvSpPr>
        <p:spPr>
          <a:xfrm>
            <a:off x="292680" y="31089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Leaflet.js (OSM)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292680" y="374904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Fetch API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1"/>
          <p:cNvSpPr/>
          <p:nvPr/>
        </p:nvSpPr>
        <p:spPr>
          <a:xfrm>
            <a:off x="2395800" y="1261800"/>
            <a:ext cx="201096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2"/>
          <p:cNvSpPr/>
          <p:nvPr/>
        </p:nvSpPr>
        <p:spPr>
          <a:xfrm>
            <a:off x="2395800" y="1261800"/>
            <a:ext cx="2010960" cy="4748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3"/>
          <p:cNvSpPr/>
          <p:nvPr/>
        </p:nvSpPr>
        <p:spPr>
          <a:xfrm>
            <a:off x="2395800" y="1261800"/>
            <a:ext cx="2010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Backend API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4"/>
          <p:cNvSpPr/>
          <p:nvPr/>
        </p:nvSpPr>
        <p:spPr>
          <a:xfrm>
            <a:off x="2487240" y="182880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PHP 8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5"/>
          <p:cNvSpPr/>
          <p:nvPr/>
        </p:nvSpPr>
        <p:spPr>
          <a:xfrm>
            <a:off x="2487240" y="24688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MySQL / MariaDB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6"/>
          <p:cNvSpPr/>
          <p:nvPr/>
        </p:nvSpPr>
        <p:spPr>
          <a:xfrm>
            <a:off x="2487240" y="31089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Port 3307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7"/>
          <p:cNvSpPr/>
          <p:nvPr/>
        </p:nvSpPr>
        <p:spPr>
          <a:xfrm>
            <a:off x="2487240" y="374904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JSON REST API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8"/>
          <p:cNvSpPr/>
          <p:nvPr/>
        </p:nvSpPr>
        <p:spPr>
          <a:xfrm>
            <a:off x="4590360" y="1261800"/>
            <a:ext cx="201096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9"/>
          <p:cNvSpPr/>
          <p:nvPr/>
        </p:nvSpPr>
        <p:spPr>
          <a:xfrm>
            <a:off x="4590360" y="1261800"/>
            <a:ext cx="2010960" cy="474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0"/>
          <p:cNvSpPr/>
          <p:nvPr/>
        </p:nvSpPr>
        <p:spPr>
          <a:xfrm>
            <a:off x="4590360" y="1261800"/>
            <a:ext cx="2010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Matériel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4681800" y="182880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Raspberry Pi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2"/>
          <p:cNvSpPr/>
          <p:nvPr/>
        </p:nvSpPr>
        <p:spPr>
          <a:xfrm>
            <a:off x="4681800" y="24688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Arduino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3"/>
          <p:cNvSpPr/>
          <p:nvPr/>
        </p:nvSpPr>
        <p:spPr>
          <a:xfrm>
            <a:off x="4681800" y="31089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Électro-aimants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4"/>
          <p:cNvSpPr/>
          <p:nvPr/>
        </p:nvSpPr>
        <p:spPr>
          <a:xfrm>
            <a:off x="4681800" y="374904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Capteurs magnétiques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5"/>
          <p:cNvSpPr/>
          <p:nvPr/>
        </p:nvSpPr>
        <p:spPr>
          <a:xfrm>
            <a:off x="6784920" y="1261800"/>
            <a:ext cx="201096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6"/>
          <p:cNvSpPr/>
          <p:nvPr/>
        </p:nvSpPr>
        <p:spPr>
          <a:xfrm>
            <a:off x="6784920" y="1261800"/>
            <a:ext cx="2010960" cy="474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"/>
          <p:cNvSpPr/>
          <p:nvPr/>
        </p:nvSpPr>
        <p:spPr>
          <a:xfrm>
            <a:off x="6784920" y="1261800"/>
            <a:ext cx="2010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Outils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8"/>
          <p:cNvSpPr/>
          <p:nvPr/>
        </p:nvSpPr>
        <p:spPr>
          <a:xfrm>
            <a:off x="6876360" y="182880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GitHub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6876360" y="24688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VS Code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0"/>
          <p:cNvSpPr/>
          <p:nvPr/>
        </p:nvSpPr>
        <p:spPr>
          <a:xfrm>
            <a:off x="6876360" y="31089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WAMP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1"/>
          <p:cNvSpPr/>
          <p:nvPr/>
        </p:nvSpPr>
        <p:spPr>
          <a:xfrm>
            <a:off x="6876360" y="374904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▸  arduino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physique</a:t>
            </a:r>
            <a:endParaRPr lang="fr-F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0" descr="preencoded.png"/>
          <p:cNvPicPr/>
          <p:nvPr/>
        </p:nvPicPr>
        <p:blipFill>
          <a:blip r:embed="rId1"/>
          <a:stretch/>
        </p:blipFill>
        <p:spPr>
          <a:xfrm>
            <a:off x="274320" y="1234440"/>
            <a:ext cx="3656880" cy="365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Shape 4"/>
          <p:cNvSpPr/>
          <p:nvPr/>
        </p:nvSpPr>
        <p:spPr>
          <a:xfrm>
            <a:off x="4206240" y="1261800"/>
            <a:ext cx="4571280" cy="639360"/>
          </a:xfrm>
          <a:prstGeom prst="rect">
            <a:avLst/>
          </a:prstGeom>
          <a:solidFill>
            <a:srgbClr val="10203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5"/>
          <p:cNvSpPr/>
          <p:nvPr/>
        </p:nvSpPr>
        <p:spPr>
          <a:xfrm>
            <a:off x="4206240" y="1261800"/>
            <a:ext cx="72360" cy="639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6"/>
          <p:cNvSpPr/>
          <p:nvPr/>
        </p:nvSpPr>
        <p:spPr>
          <a:xfrm>
            <a:off x="4370760" y="130752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 casiers numérotés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7"/>
          <p:cNvSpPr/>
          <p:nvPr/>
        </p:nvSpPr>
        <p:spPr>
          <a:xfrm>
            <a:off x="4370760" y="1581840"/>
            <a:ext cx="4296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1 à 4, tailles identiques sur la maquette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4206240" y="2011680"/>
            <a:ext cx="4571280" cy="639360"/>
          </a:xfrm>
          <a:prstGeom prst="rect">
            <a:avLst/>
          </a:prstGeom>
          <a:solidFill>
            <a:srgbClr val="102030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9"/>
          <p:cNvSpPr/>
          <p:nvPr/>
        </p:nvSpPr>
        <p:spPr>
          <a:xfrm>
            <a:off x="4206240" y="2011680"/>
            <a:ext cx="72360" cy="639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0"/>
          <p:cNvSpPr/>
          <p:nvPr/>
        </p:nvSpPr>
        <p:spPr>
          <a:xfrm>
            <a:off x="4370760" y="205740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Raspberry Pi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1"/>
          <p:cNvSpPr/>
          <p:nvPr/>
        </p:nvSpPr>
        <p:spPr>
          <a:xfrm>
            <a:off x="4370760" y="2331720"/>
            <a:ext cx="4296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Pilotage central, connexion WiFi à l'API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2"/>
          <p:cNvSpPr/>
          <p:nvPr/>
        </p:nvSpPr>
        <p:spPr>
          <a:xfrm>
            <a:off x="4206240" y="2761560"/>
            <a:ext cx="4571280" cy="639360"/>
          </a:xfrm>
          <a:prstGeom prst="rect">
            <a:avLst/>
          </a:prstGeom>
          <a:solidFill>
            <a:srgbClr val="102030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3"/>
          <p:cNvSpPr/>
          <p:nvPr/>
        </p:nvSpPr>
        <p:spPr>
          <a:xfrm>
            <a:off x="4206240" y="2761560"/>
            <a:ext cx="72360" cy="639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4"/>
          <p:cNvSpPr/>
          <p:nvPr/>
        </p:nvSpPr>
        <p:spPr>
          <a:xfrm>
            <a:off x="4370760" y="280728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Arduino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5"/>
          <p:cNvSpPr/>
          <p:nvPr/>
        </p:nvSpPr>
        <p:spPr>
          <a:xfrm>
            <a:off x="4370760" y="3081600"/>
            <a:ext cx="4296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Gestion des électro-aimants + envoi SMS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6"/>
          <p:cNvSpPr/>
          <p:nvPr/>
        </p:nvSpPr>
        <p:spPr>
          <a:xfrm>
            <a:off x="4206240" y="3511440"/>
            <a:ext cx="4571280" cy="639360"/>
          </a:xfrm>
          <a:prstGeom prst="rect">
            <a:avLst/>
          </a:prstGeom>
          <a:solidFill>
            <a:srgbClr val="102030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7"/>
          <p:cNvSpPr/>
          <p:nvPr/>
        </p:nvSpPr>
        <p:spPr>
          <a:xfrm>
            <a:off x="4206240" y="3511440"/>
            <a:ext cx="72360" cy="639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8"/>
          <p:cNvSpPr/>
          <p:nvPr/>
        </p:nvSpPr>
        <p:spPr>
          <a:xfrm>
            <a:off x="4370760" y="355716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Capteurs magnétiques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9"/>
          <p:cNvSpPr/>
          <p:nvPr/>
        </p:nvSpPr>
        <p:spPr>
          <a:xfrm>
            <a:off x="4370760" y="3831480"/>
            <a:ext cx="4296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Détection ouverture / fermeture de chaque casier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0"/>
          <p:cNvSpPr/>
          <p:nvPr/>
        </p:nvSpPr>
        <p:spPr>
          <a:xfrm>
            <a:off x="4206240" y="4260960"/>
            <a:ext cx="4571280" cy="639360"/>
          </a:xfrm>
          <a:prstGeom prst="rect">
            <a:avLst/>
          </a:prstGeom>
          <a:solidFill>
            <a:srgbClr val="102030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1"/>
          <p:cNvSpPr/>
          <p:nvPr/>
        </p:nvSpPr>
        <p:spPr>
          <a:xfrm>
            <a:off x="4206240" y="4260960"/>
            <a:ext cx="72360" cy="6393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"/>
          <p:cNvSpPr/>
          <p:nvPr/>
        </p:nvSpPr>
        <p:spPr>
          <a:xfrm>
            <a:off x="4370760" y="430668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Alimentation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3"/>
          <p:cNvSpPr/>
          <p:nvPr/>
        </p:nvSpPr>
        <p:spPr>
          <a:xfrm>
            <a:off x="4370760" y="4581000"/>
            <a:ext cx="4296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Via le casier central (casier technique)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B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"/>
          <p:cNvSpPr/>
          <p:nvPr/>
        </p:nvSpPr>
        <p:spPr>
          <a:xfrm>
            <a:off x="164520" y="0"/>
            <a:ext cx="8978760" cy="514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365760" y="822960"/>
            <a:ext cx="1828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6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365760" y="160020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 partie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365760" y="2240280"/>
            <a:ext cx="8228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Site web React</a:t>
            </a: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6"/>
          <p:cNvSpPr/>
          <p:nvPr/>
        </p:nvSpPr>
        <p:spPr>
          <a:xfrm>
            <a:off x="365760" y="3154680"/>
            <a:ext cx="45720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365760" y="3337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BDD9"/>
                </a:solidFill>
                <a:effectLst/>
                <a:uFillTx/>
                <a:latin typeface="Calibri"/>
                <a:ea typeface="Calibri"/>
              </a:rPr>
              <a:t>Développement frontend — React (Vite) · CSS custom · Fetch API · Leaflet.js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Site web — Fonctionnalités développées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"/>
          <p:cNvSpPr/>
          <p:nvPr/>
        </p:nvSpPr>
        <p:spPr>
          <a:xfrm>
            <a:off x="201240" y="128016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311040" y="1444680"/>
            <a:ext cx="456480" cy="45648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311040" y="14446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859680" y="144468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Compte client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311040" y="199332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Inscription avec validation email + téléphone (10 chiffres), connexion sécurisée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3145680" y="128016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0"/>
          <p:cNvSpPr/>
          <p:nvPr/>
        </p:nvSpPr>
        <p:spPr>
          <a:xfrm>
            <a:off x="3255120" y="1444680"/>
            <a:ext cx="456480" cy="4564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3255120" y="14446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3803760" y="144468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Créer un colis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3255120" y="199332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Formulaire 3 étapes : dimensions → choix locker (carte OSM) → confirmation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4"/>
          <p:cNvSpPr/>
          <p:nvPr/>
        </p:nvSpPr>
        <p:spPr>
          <a:xfrm>
            <a:off x="6089760" y="128016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5"/>
          <p:cNvSpPr/>
          <p:nvPr/>
        </p:nvSpPr>
        <p:spPr>
          <a:xfrm>
            <a:off x="6199560" y="1444680"/>
            <a:ext cx="456480" cy="456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6"/>
          <p:cNvSpPr/>
          <p:nvPr/>
        </p:nvSpPr>
        <p:spPr>
          <a:xfrm>
            <a:off x="6199560" y="14446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6748200" y="144468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Suivi de colis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6199560" y="199332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Accessible sans connexion, affiche dimensions et destinataire en temps réel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9"/>
          <p:cNvSpPr/>
          <p:nvPr/>
        </p:nvSpPr>
        <p:spPr>
          <a:xfrm>
            <a:off x="201240" y="306324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311040" y="3227760"/>
            <a:ext cx="456480" cy="456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1"/>
          <p:cNvSpPr/>
          <p:nvPr/>
        </p:nvSpPr>
        <p:spPr>
          <a:xfrm>
            <a:off x="311040" y="32277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2"/>
          <p:cNvSpPr/>
          <p:nvPr/>
        </p:nvSpPr>
        <p:spPr>
          <a:xfrm>
            <a:off x="859680" y="322776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Espace livreur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3"/>
          <p:cNvSpPr/>
          <p:nvPr/>
        </p:nvSpPr>
        <p:spPr>
          <a:xfrm>
            <a:off x="311040" y="377640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Gestion disponibilité, liste des colis à livrer, attribution automatique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4"/>
          <p:cNvSpPr/>
          <p:nvPr/>
        </p:nvSpPr>
        <p:spPr>
          <a:xfrm>
            <a:off x="3145680" y="306324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5"/>
          <p:cNvSpPr/>
          <p:nvPr/>
        </p:nvSpPr>
        <p:spPr>
          <a:xfrm>
            <a:off x="3255120" y="3227760"/>
            <a:ext cx="456480" cy="4564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6"/>
          <p:cNvSpPr/>
          <p:nvPr/>
        </p:nvSpPr>
        <p:spPr>
          <a:xfrm>
            <a:off x="3255120" y="32277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7"/>
          <p:cNvSpPr/>
          <p:nvPr/>
        </p:nvSpPr>
        <p:spPr>
          <a:xfrm>
            <a:off x="3803760" y="322776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Carte OpenStreetMap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8"/>
          <p:cNvSpPr/>
          <p:nvPr/>
        </p:nvSpPr>
        <p:spPr>
          <a:xfrm>
            <a:off x="3255120" y="377640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Choix du locker via marqueur géolocalisé (Leaflet.js)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9"/>
          <p:cNvSpPr/>
          <p:nvPr/>
        </p:nvSpPr>
        <p:spPr>
          <a:xfrm>
            <a:off x="6089760" y="3063240"/>
            <a:ext cx="2833920" cy="1599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30"/>
          <p:cNvSpPr/>
          <p:nvPr/>
        </p:nvSpPr>
        <p:spPr>
          <a:xfrm>
            <a:off x="6199560" y="3227760"/>
            <a:ext cx="456480" cy="4564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1"/>
          <p:cNvSpPr/>
          <p:nvPr/>
        </p:nvSpPr>
        <p:spPr>
          <a:xfrm>
            <a:off x="6199560" y="32277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2"/>
          <p:cNvSpPr/>
          <p:nvPr/>
        </p:nvSpPr>
        <p:spPr>
          <a:xfrm>
            <a:off x="6748200" y="3227760"/>
            <a:ext cx="2056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Attribution auto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3"/>
          <p:cNvSpPr/>
          <p:nvPr/>
        </p:nvSpPr>
        <p:spPr>
          <a:xfrm>
            <a:off x="6199560" y="3776400"/>
            <a:ext cx="2605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Un livreur disponible est automatiquement assigné à chaque colis créé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API PHP &amp; Base de données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201240" y="129852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201240" y="1719000"/>
            <a:ext cx="4114080" cy="365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201240" y="1719000"/>
            <a:ext cx="474840" cy="3650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7"/>
          <p:cNvSpPr/>
          <p:nvPr/>
        </p:nvSpPr>
        <p:spPr>
          <a:xfrm>
            <a:off x="201240" y="171900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749880" y="174636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749880" y="191124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Inscription / Connexion client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201240" y="2157840"/>
            <a:ext cx="4114080" cy="365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201240" y="2157840"/>
            <a:ext cx="474840" cy="3650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201240" y="215784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749880" y="218556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user.php?action=login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749880" y="235008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Connexion livreur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201240" y="2597040"/>
            <a:ext cx="4114080" cy="365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201240" y="2597040"/>
            <a:ext cx="474840" cy="365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201240" y="259704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749880" y="262440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749880" y="278892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Créer un colis + attribuer livreur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201240" y="3035880"/>
            <a:ext cx="4114080" cy="365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201240" y="3035880"/>
            <a:ext cx="474840" cy="365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201240" y="303588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3"/>
          <p:cNvSpPr/>
          <p:nvPr/>
        </p:nvSpPr>
        <p:spPr>
          <a:xfrm>
            <a:off x="749880" y="306324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colis.php?track=XXX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749880" y="322776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Suivi d'un colis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25"/>
          <p:cNvSpPr/>
          <p:nvPr/>
        </p:nvSpPr>
        <p:spPr>
          <a:xfrm>
            <a:off x="201240" y="3474720"/>
            <a:ext cx="4114080" cy="365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201240" y="3474720"/>
            <a:ext cx="474840" cy="365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7"/>
          <p:cNvSpPr/>
          <p:nvPr/>
        </p:nvSpPr>
        <p:spPr>
          <a:xfrm>
            <a:off x="201240" y="347472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8"/>
          <p:cNvSpPr/>
          <p:nvPr/>
        </p:nvSpPr>
        <p:spPr>
          <a:xfrm>
            <a:off x="749880" y="350208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colis.php?user=ID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9"/>
          <p:cNvSpPr/>
          <p:nvPr/>
        </p:nvSpPr>
        <p:spPr>
          <a:xfrm>
            <a:off x="749880" y="366660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Colis d'un client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30"/>
          <p:cNvSpPr/>
          <p:nvPr/>
        </p:nvSpPr>
        <p:spPr>
          <a:xfrm>
            <a:off x="201240" y="3913560"/>
            <a:ext cx="4114080" cy="365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1"/>
          <p:cNvSpPr/>
          <p:nvPr/>
        </p:nvSpPr>
        <p:spPr>
          <a:xfrm>
            <a:off x="201240" y="3913560"/>
            <a:ext cx="474840" cy="365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2"/>
          <p:cNvSpPr/>
          <p:nvPr/>
        </p:nvSpPr>
        <p:spPr>
          <a:xfrm>
            <a:off x="201240" y="391356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3"/>
          <p:cNvSpPr/>
          <p:nvPr/>
        </p:nvSpPr>
        <p:spPr>
          <a:xfrm>
            <a:off x="749880" y="394092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account.php?id=ID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4"/>
          <p:cNvSpPr/>
          <p:nvPr/>
        </p:nvSpPr>
        <p:spPr>
          <a:xfrm>
            <a:off x="749880" y="410580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Infos compte + colis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5"/>
          <p:cNvSpPr/>
          <p:nvPr/>
        </p:nvSpPr>
        <p:spPr>
          <a:xfrm>
            <a:off x="201240" y="4352400"/>
            <a:ext cx="4114080" cy="365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36"/>
          <p:cNvSpPr/>
          <p:nvPr/>
        </p:nvSpPr>
        <p:spPr>
          <a:xfrm>
            <a:off x="201240" y="4352400"/>
            <a:ext cx="474840" cy="365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37"/>
          <p:cNvSpPr/>
          <p:nvPr/>
        </p:nvSpPr>
        <p:spPr>
          <a:xfrm>
            <a:off x="201240" y="4352400"/>
            <a:ext cx="474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8"/>
          <p:cNvSpPr/>
          <p:nvPr/>
        </p:nvSpPr>
        <p:spPr>
          <a:xfrm>
            <a:off x="749880" y="4380120"/>
            <a:ext cx="3382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user.php?action=updateDispo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9"/>
          <p:cNvSpPr/>
          <p:nvPr/>
        </p:nvSpPr>
        <p:spPr>
          <a:xfrm>
            <a:off x="749880" y="4544640"/>
            <a:ext cx="33825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Disponibilité livreur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0"/>
          <p:cNvSpPr/>
          <p:nvPr/>
        </p:nvSpPr>
        <p:spPr>
          <a:xfrm>
            <a:off x="4572000" y="1298520"/>
            <a:ext cx="4205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Tables BDD (bddLocker)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1"/>
          <p:cNvSpPr/>
          <p:nvPr/>
        </p:nvSpPr>
        <p:spPr>
          <a:xfrm>
            <a:off x="4572000" y="171900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2"/>
          <p:cNvSpPr/>
          <p:nvPr/>
        </p:nvSpPr>
        <p:spPr>
          <a:xfrm>
            <a:off x="4572000" y="1719000"/>
            <a:ext cx="72360" cy="5662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43"/>
          <p:cNvSpPr/>
          <p:nvPr/>
        </p:nvSpPr>
        <p:spPr>
          <a:xfrm>
            <a:off x="4736520" y="1774080"/>
            <a:ext cx="3931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B6CA8"/>
                </a:solidFill>
                <a:effectLst/>
                <a:uFillTx/>
                <a:latin typeface="Consolas"/>
                <a:ea typeface="Consolas"/>
              </a:rPr>
              <a:t>Clients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4"/>
          <p:cNvSpPr/>
          <p:nvPr/>
        </p:nvSpPr>
        <p:spPr>
          <a:xfrm>
            <a:off x="4736520" y="2020680"/>
            <a:ext cx="3931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idClients, nom, prenom, email, telephone, mdp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5"/>
          <p:cNvSpPr/>
          <p:nvPr/>
        </p:nvSpPr>
        <p:spPr>
          <a:xfrm>
            <a:off x="4572000" y="239580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46"/>
          <p:cNvSpPr/>
          <p:nvPr/>
        </p:nvSpPr>
        <p:spPr>
          <a:xfrm>
            <a:off x="4572000" y="2395800"/>
            <a:ext cx="72360" cy="566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7"/>
          <p:cNvSpPr/>
          <p:nvPr/>
        </p:nvSpPr>
        <p:spPr>
          <a:xfrm>
            <a:off x="4736520" y="2450520"/>
            <a:ext cx="3931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Livreur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8"/>
          <p:cNvSpPr/>
          <p:nvPr/>
        </p:nvSpPr>
        <p:spPr>
          <a:xfrm>
            <a:off x="4736520" y="2697480"/>
            <a:ext cx="3931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idLivreur, nom, prenom, email, mdp, disponibilite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9"/>
          <p:cNvSpPr/>
          <p:nvPr/>
        </p:nvSpPr>
        <p:spPr>
          <a:xfrm>
            <a:off x="4572000" y="307224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50"/>
          <p:cNvSpPr/>
          <p:nvPr/>
        </p:nvSpPr>
        <p:spPr>
          <a:xfrm>
            <a:off x="4572000" y="3072240"/>
            <a:ext cx="72360" cy="566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51"/>
          <p:cNvSpPr/>
          <p:nvPr/>
        </p:nvSpPr>
        <p:spPr>
          <a:xfrm>
            <a:off x="4736520" y="3127320"/>
            <a:ext cx="3931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Colis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2"/>
          <p:cNvSpPr/>
          <p:nvPr/>
        </p:nvSpPr>
        <p:spPr>
          <a:xfrm>
            <a:off x="4736520" y="3374280"/>
            <a:ext cx="3931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idColis, num_colis, longueur, largeur, hauteur, destinataire, FK Clients, FK Livreur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53"/>
          <p:cNvSpPr/>
          <p:nvPr/>
        </p:nvSpPr>
        <p:spPr>
          <a:xfrm>
            <a:off x="4572000" y="374904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54"/>
          <p:cNvSpPr/>
          <p:nvPr/>
        </p:nvSpPr>
        <p:spPr>
          <a:xfrm>
            <a:off x="4572000" y="3749040"/>
            <a:ext cx="72360" cy="566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5"/>
          <p:cNvSpPr/>
          <p:nvPr/>
        </p:nvSpPr>
        <p:spPr>
          <a:xfrm>
            <a:off x="4736520" y="3803760"/>
            <a:ext cx="3931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Locker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6"/>
          <p:cNvSpPr/>
          <p:nvPr/>
        </p:nvSpPr>
        <p:spPr>
          <a:xfrm>
            <a:off x="4736520" y="4050720"/>
            <a:ext cx="3931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idLocker, adresse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57"/>
          <p:cNvSpPr/>
          <p:nvPr/>
        </p:nvSpPr>
        <p:spPr>
          <a:xfrm>
            <a:off x="4572000" y="4425840"/>
            <a:ext cx="4205520" cy="566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58"/>
          <p:cNvSpPr/>
          <p:nvPr/>
        </p:nvSpPr>
        <p:spPr>
          <a:xfrm>
            <a:off x="4572000" y="4425840"/>
            <a:ext cx="72360" cy="5662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9"/>
          <p:cNvSpPr/>
          <p:nvPr/>
        </p:nvSpPr>
        <p:spPr>
          <a:xfrm>
            <a:off x="4736520" y="4480560"/>
            <a:ext cx="3931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Casier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0"/>
          <p:cNvSpPr/>
          <p:nvPr/>
        </p:nvSpPr>
        <p:spPr>
          <a:xfrm>
            <a:off x="4736520" y="4727520"/>
            <a:ext cx="3931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idCasier, num_casier, FK Locker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Diagrammes UML — Vue globale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preencoded.png"/>
          <p:cNvPicPr/>
          <p:nvPr/>
        </p:nvPicPr>
        <p:blipFill>
          <a:blip r:embed="rId1"/>
          <a:stretch/>
        </p:blipFill>
        <p:spPr>
          <a:xfrm>
            <a:off x="201240" y="1261800"/>
            <a:ext cx="8740800" cy="374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4"/>
          <p:cNvSpPr/>
          <p:nvPr/>
        </p:nvSpPr>
        <p:spPr>
          <a:xfrm>
            <a:off x="201240" y="4892040"/>
            <a:ext cx="8740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Diagramme de cas d'utilisation global — Projet LOCKER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Diagramme de séquence &amp; diagrammes d'état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2" name="Image 0" descr="preencoded.png"/>
          <p:cNvPicPr/>
          <p:nvPr/>
        </p:nvPicPr>
        <p:blipFill>
          <a:blip r:embed="rId1"/>
          <a:stretch/>
        </p:blipFill>
        <p:spPr>
          <a:xfrm>
            <a:off x="201240" y="1280160"/>
            <a:ext cx="4296960" cy="347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Text 4"/>
          <p:cNvSpPr/>
          <p:nvPr/>
        </p:nvSpPr>
        <p:spPr>
          <a:xfrm>
            <a:off x="201240" y="4800600"/>
            <a:ext cx="4296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Diagramme de séquence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1" descr="preencoded.png"/>
          <p:cNvPicPr/>
          <p:nvPr/>
        </p:nvPicPr>
        <p:blipFill>
          <a:blip r:embed="rId2"/>
          <a:stretch/>
        </p:blipFill>
        <p:spPr>
          <a:xfrm>
            <a:off x="4754880" y="1280160"/>
            <a:ext cx="1919520" cy="164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5"/>
          <p:cNvSpPr/>
          <p:nvPr/>
        </p:nvSpPr>
        <p:spPr>
          <a:xfrm>
            <a:off x="4754880" y="294444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État — Connexion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2" descr="preencoded.png"/>
          <p:cNvPicPr/>
          <p:nvPr/>
        </p:nvPicPr>
        <p:blipFill>
          <a:blip r:embed="rId3"/>
          <a:stretch/>
        </p:blipFill>
        <p:spPr>
          <a:xfrm>
            <a:off x="6858000" y="1280160"/>
            <a:ext cx="1919520" cy="164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6"/>
          <p:cNvSpPr/>
          <p:nvPr/>
        </p:nvSpPr>
        <p:spPr>
          <a:xfrm>
            <a:off x="6858000" y="294444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État — Suivi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3" descr="preencoded.png"/>
          <p:cNvPicPr/>
          <p:nvPr/>
        </p:nvPicPr>
        <p:blipFill>
          <a:blip r:embed="rId4"/>
          <a:stretch/>
        </p:blipFill>
        <p:spPr>
          <a:xfrm>
            <a:off x="4754880" y="3200400"/>
            <a:ext cx="4022640" cy="164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7"/>
          <p:cNvSpPr/>
          <p:nvPr/>
        </p:nvSpPr>
        <p:spPr>
          <a:xfrm>
            <a:off x="4754880" y="4846320"/>
            <a:ext cx="4022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État — Création de compte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Diagramme d'exigences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Image 0" descr="preencoded.png"/>
          <p:cNvPicPr/>
          <p:nvPr/>
        </p:nvPicPr>
        <p:blipFill>
          <a:blip r:embed="rId1"/>
          <a:stretch/>
        </p:blipFill>
        <p:spPr>
          <a:xfrm>
            <a:off x="201240" y="1261800"/>
            <a:ext cx="8740800" cy="374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Planning du projet — Diagramme de Gantt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1"/>
          <a:stretch/>
        </p:blipFill>
        <p:spPr>
          <a:xfrm>
            <a:off x="201240" y="1261800"/>
            <a:ext cx="8740800" cy="374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Architecture du code — React (Vite)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201240" y="1261800"/>
            <a:ext cx="502848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320040" y="1371600"/>
            <a:ext cx="4754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App.jsx  —  Routeur principal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320040" y="182880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[page, setPage] = useState('home')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20040" y="207576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[isLoggedIn, setIsLoggedIn] = useState(...)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320040" y="232272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[isLivreur, setIsLivreur] = useState(...)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320040" y="256932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320040" y="281628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Navigation par état — pas de React Router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320040" y="306324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'login')  → &lt;Login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320040" y="331020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'register') → &lt;Register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320040" y="355716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'track')   → &lt;Track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320040" y="380376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'createColis') → &lt;CreateColis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320040" y="405072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'account') → &lt;Account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320040" y="4297680"/>
            <a:ext cx="4754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if (page === 'livreur') → &lt;LivreurPage /&gt;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5486400" y="137160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Pages / Composants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5394960" y="182880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5394960" y="1828800"/>
            <a:ext cx="54000" cy="43812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5541120" y="186552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Login.jsx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5541120" y="205740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Connexion + localStorage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5394960" y="235908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3"/>
          <p:cNvSpPr/>
          <p:nvPr/>
        </p:nvSpPr>
        <p:spPr>
          <a:xfrm>
            <a:off x="5394960" y="2359080"/>
            <a:ext cx="54000" cy="43812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5541120" y="239580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Register.jsx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5541120" y="258768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Création compte + validation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6"/>
          <p:cNvSpPr/>
          <p:nvPr/>
        </p:nvSpPr>
        <p:spPr>
          <a:xfrm>
            <a:off x="5394960" y="288936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7"/>
          <p:cNvSpPr/>
          <p:nvPr/>
        </p:nvSpPr>
        <p:spPr>
          <a:xfrm>
            <a:off x="5394960" y="2889360"/>
            <a:ext cx="54000" cy="438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8"/>
          <p:cNvSpPr/>
          <p:nvPr/>
        </p:nvSpPr>
        <p:spPr>
          <a:xfrm>
            <a:off x="5541120" y="292608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CreateColis.jsx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9"/>
          <p:cNvSpPr/>
          <p:nvPr/>
        </p:nvSpPr>
        <p:spPr>
          <a:xfrm>
            <a:off x="5541120" y="311796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Formulaire colis + Leaflet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30"/>
          <p:cNvSpPr/>
          <p:nvPr/>
        </p:nvSpPr>
        <p:spPr>
          <a:xfrm>
            <a:off x="5394960" y="342000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31"/>
          <p:cNvSpPr/>
          <p:nvPr/>
        </p:nvSpPr>
        <p:spPr>
          <a:xfrm>
            <a:off x="5394960" y="3420000"/>
            <a:ext cx="54000" cy="438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2"/>
          <p:cNvSpPr/>
          <p:nvPr/>
        </p:nvSpPr>
        <p:spPr>
          <a:xfrm>
            <a:off x="5541120" y="345636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Track.jsx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3"/>
          <p:cNvSpPr/>
          <p:nvPr/>
        </p:nvSpPr>
        <p:spPr>
          <a:xfrm>
            <a:off x="5541120" y="364860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Suivi sans connexion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5394960" y="395028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5"/>
          <p:cNvSpPr/>
          <p:nvPr/>
        </p:nvSpPr>
        <p:spPr>
          <a:xfrm>
            <a:off x="5394960" y="3950280"/>
            <a:ext cx="54000" cy="438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6"/>
          <p:cNvSpPr/>
          <p:nvPr/>
        </p:nvSpPr>
        <p:spPr>
          <a:xfrm>
            <a:off x="5541120" y="398664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LivreurPage.jsx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7"/>
          <p:cNvSpPr/>
          <p:nvPr/>
        </p:nvSpPr>
        <p:spPr>
          <a:xfrm>
            <a:off x="5541120" y="417888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Espace livreur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38"/>
          <p:cNvSpPr/>
          <p:nvPr/>
        </p:nvSpPr>
        <p:spPr>
          <a:xfrm>
            <a:off x="5394960" y="4480560"/>
            <a:ext cx="3474000" cy="438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9"/>
          <p:cNvSpPr/>
          <p:nvPr/>
        </p:nvSpPr>
        <p:spPr>
          <a:xfrm>
            <a:off x="5394960" y="4480560"/>
            <a:ext cx="54000" cy="4381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0"/>
          <p:cNvSpPr/>
          <p:nvPr/>
        </p:nvSpPr>
        <p:spPr>
          <a:xfrm>
            <a:off x="5541120" y="4517280"/>
            <a:ext cx="3199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Account.jsx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41"/>
          <p:cNvSpPr/>
          <p:nvPr/>
        </p:nvSpPr>
        <p:spPr>
          <a:xfrm>
            <a:off x="5541120" y="4709160"/>
            <a:ext cx="3199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Infos compte + colis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Gestion de l'état &amp; authentification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4"/>
          <p:cNvSpPr/>
          <p:nvPr/>
        </p:nvSpPr>
        <p:spPr>
          <a:xfrm>
            <a:off x="201240" y="1261800"/>
            <a:ext cx="420552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5"/>
          <p:cNvSpPr/>
          <p:nvPr/>
        </p:nvSpPr>
        <p:spPr>
          <a:xfrm>
            <a:off x="320040" y="137160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6CA8"/>
                </a:solidFill>
                <a:effectLst/>
                <a:uFillTx/>
                <a:latin typeface="Consolas"/>
                <a:ea typeface="Consolas"/>
              </a:rPr>
              <a:t>Authentification — localStorage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6"/>
          <p:cNvSpPr/>
          <p:nvPr/>
        </p:nvSpPr>
        <p:spPr>
          <a:xfrm>
            <a:off x="320040" y="182880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Connexion — Login.jsx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7"/>
          <p:cNvSpPr/>
          <p:nvPr/>
        </p:nvSpPr>
        <p:spPr>
          <a:xfrm>
            <a:off x="320040" y="201168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localStorage.setItem('user', email)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8"/>
          <p:cNvSpPr/>
          <p:nvPr/>
        </p:nvSpPr>
        <p:spPr>
          <a:xfrm>
            <a:off x="320040" y="219456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localStorage.setItem('type', 'livreur')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9"/>
          <p:cNvSpPr/>
          <p:nvPr/>
        </p:nvSpPr>
        <p:spPr>
          <a:xfrm>
            <a:off x="320040" y="237744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setIsLoggedIn(true)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0"/>
          <p:cNvSpPr/>
          <p:nvPr/>
        </p:nvSpPr>
        <p:spPr>
          <a:xfrm>
            <a:off x="320040" y="256032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setIsLivreur(true)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1"/>
          <p:cNvSpPr/>
          <p:nvPr/>
        </p:nvSpPr>
        <p:spPr>
          <a:xfrm>
            <a:off x="320040" y="274320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setPage('home')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2"/>
          <p:cNvSpPr/>
          <p:nvPr/>
        </p:nvSpPr>
        <p:spPr>
          <a:xfrm>
            <a:off x="320040" y="292608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13"/>
          <p:cNvSpPr/>
          <p:nvPr/>
        </p:nvSpPr>
        <p:spPr>
          <a:xfrm>
            <a:off x="320040" y="310896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Déconnexion — App.jsx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4"/>
          <p:cNvSpPr/>
          <p:nvPr/>
        </p:nvSpPr>
        <p:spPr>
          <a:xfrm>
            <a:off x="320040" y="329184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localStorage.removeItem('user')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5"/>
          <p:cNvSpPr/>
          <p:nvPr/>
        </p:nvSpPr>
        <p:spPr>
          <a:xfrm>
            <a:off x="320040" y="347472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localStorage.removeItem('type')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6"/>
          <p:cNvSpPr/>
          <p:nvPr/>
        </p:nvSpPr>
        <p:spPr>
          <a:xfrm>
            <a:off x="320040" y="365760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setIsLoggedIn(false)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7"/>
          <p:cNvSpPr/>
          <p:nvPr/>
        </p:nvSpPr>
        <p:spPr>
          <a:xfrm>
            <a:off x="320040" y="384048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setIsLivreur(false)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8"/>
          <p:cNvSpPr/>
          <p:nvPr/>
        </p:nvSpPr>
        <p:spPr>
          <a:xfrm>
            <a:off x="320040" y="402336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alert('Déconnecté')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9"/>
          <p:cNvSpPr/>
          <p:nvPr/>
        </p:nvSpPr>
        <p:spPr>
          <a:xfrm>
            <a:off x="320040" y="420624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20"/>
          <p:cNvSpPr/>
          <p:nvPr/>
        </p:nvSpPr>
        <p:spPr>
          <a:xfrm>
            <a:off x="320040" y="438912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Persistance au rechargement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1"/>
          <p:cNvSpPr/>
          <p:nvPr/>
        </p:nvSpPr>
        <p:spPr>
          <a:xfrm>
            <a:off x="320040" y="457200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useState(localStorage.getItem('user')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22"/>
          <p:cNvSpPr/>
          <p:nvPr/>
        </p:nvSpPr>
        <p:spPr>
          <a:xfrm>
            <a:off x="320040" y="4754880"/>
            <a:ext cx="39312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? true : false)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23"/>
          <p:cNvSpPr/>
          <p:nvPr/>
        </p:nvSpPr>
        <p:spPr>
          <a:xfrm>
            <a:off x="4663440" y="137160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Validation des formulaires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4"/>
          <p:cNvSpPr/>
          <p:nvPr/>
        </p:nvSpPr>
        <p:spPr>
          <a:xfrm>
            <a:off x="4663440" y="182880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25"/>
          <p:cNvSpPr/>
          <p:nvPr/>
        </p:nvSpPr>
        <p:spPr>
          <a:xfrm>
            <a:off x="4736520" y="1911240"/>
            <a:ext cx="273600" cy="2736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26"/>
          <p:cNvSpPr/>
          <p:nvPr/>
        </p:nvSpPr>
        <p:spPr>
          <a:xfrm>
            <a:off x="5120640" y="186552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7"/>
          <p:cNvSpPr/>
          <p:nvPr/>
        </p:nvSpPr>
        <p:spPr>
          <a:xfrm>
            <a:off x="5120640" y="20664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Format valide (regex)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8"/>
          <p:cNvSpPr/>
          <p:nvPr/>
        </p:nvSpPr>
        <p:spPr>
          <a:xfrm>
            <a:off x="4663440" y="239580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29"/>
          <p:cNvSpPr/>
          <p:nvPr/>
        </p:nvSpPr>
        <p:spPr>
          <a:xfrm>
            <a:off x="4736520" y="2477880"/>
            <a:ext cx="273600" cy="2736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30"/>
          <p:cNvSpPr/>
          <p:nvPr/>
        </p:nvSpPr>
        <p:spPr>
          <a:xfrm>
            <a:off x="5120640" y="243216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Téléphone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31"/>
          <p:cNvSpPr/>
          <p:nvPr/>
        </p:nvSpPr>
        <p:spPr>
          <a:xfrm>
            <a:off x="5120640" y="26334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Exactement 10 chiffres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32"/>
          <p:cNvSpPr/>
          <p:nvPr/>
        </p:nvSpPr>
        <p:spPr>
          <a:xfrm>
            <a:off x="4663440" y="296280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33"/>
          <p:cNvSpPr/>
          <p:nvPr/>
        </p:nvSpPr>
        <p:spPr>
          <a:xfrm>
            <a:off x="4736520" y="3044880"/>
            <a:ext cx="273600" cy="2736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34"/>
          <p:cNvSpPr/>
          <p:nvPr/>
        </p:nvSpPr>
        <p:spPr>
          <a:xfrm>
            <a:off x="5120640" y="299916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Mot de passe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35"/>
          <p:cNvSpPr/>
          <p:nvPr/>
        </p:nvSpPr>
        <p:spPr>
          <a:xfrm>
            <a:off x="5120640" y="32004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Longueur minimale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36"/>
          <p:cNvSpPr/>
          <p:nvPr/>
        </p:nvSpPr>
        <p:spPr>
          <a:xfrm>
            <a:off x="4663440" y="352944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37"/>
          <p:cNvSpPr/>
          <p:nvPr/>
        </p:nvSpPr>
        <p:spPr>
          <a:xfrm>
            <a:off x="4736520" y="3611880"/>
            <a:ext cx="273600" cy="273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8"/>
          <p:cNvSpPr/>
          <p:nvPr/>
        </p:nvSpPr>
        <p:spPr>
          <a:xfrm>
            <a:off x="5120640" y="356616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Dimensions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9"/>
          <p:cNvSpPr/>
          <p:nvPr/>
        </p:nvSpPr>
        <p:spPr>
          <a:xfrm>
            <a:off x="5120640" y="37674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Valeurs numériques &gt; 0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0"/>
          <p:cNvSpPr/>
          <p:nvPr/>
        </p:nvSpPr>
        <p:spPr>
          <a:xfrm>
            <a:off x="4663440" y="409644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1"/>
          <p:cNvSpPr/>
          <p:nvPr/>
        </p:nvSpPr>
        <p:spPr>
          <a:xfrm>
            <a:off x="4736520" y="4178880"/>
            <a:ext cx="273600" cy="273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42"/>
          <p:cNvSpPr/>
          <p:nvPr/>
        </p:nvSpPr>
        <p:spPr>
          <a:xfrm>
            <a:off x="5120640" y="413316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Erreurs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43"/>
          <p:cNvSpPr/>
          <p:nvPr/>
        </p:nvSpPr>
        <p:spPr>
          <a:xfrm>
            <a:off x="5120640" y="43344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Affichage en rouge (msgErreur)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44"/>
          <p:cNvSpPr/>
          <p:nvPr/>
        </p:nvSpPr>
        <p:spPr>
          <a:xfrm>
            <a:off x="4663440" y="4663440"/>
            <a:ext cx="415980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5"/>
          <p:cNvSpPr/>
          <p:nvPr/>
        </p:nvSpPr>
        <p:spPr>
          <a:xfrm>
            <a:off x="4736520" y="4745880"/>
            <a:ext cx="273600" cy="27360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6"/>
          <p:cNvSpPr/>
          <p:nvPr/>
        </p:nvSpPr>
        <p:spPr>
          <a:xfrm>
            <a:off x="5120640" y="4700160"/>
            <a:ext cx="3565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Locker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47"/>
          <p:cNvSpPr/>
          <p:nvPr/>
        </p:nvSpPr>
        <p:spPr>
          <a:xfrm>
            <a:off x="5120640" y="490104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Sélection obligatoire sur la carte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Fetch API — Communication avec le backend PHP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4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5"/>
          <p:cNvSpPr/>
          <p:nvPr/>
        </p:nvSpPr>
        <p:spPr>
          <a:xfrm>
            <a:off x="320040" y="1371600"/>
            <a:ext cx="4937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onsolas"/>
                <a:ea typeface="Consolas"/>
              </a:rPr>
              <a:t>Exemple — CreateColis.jsx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6"/>
          <p:cNvSpPr/>
          <p:nvPr/>
        </p:nvSpPr>
        <p:spPr>
          <a:xfrm>
            <a:off x="320040" y="181044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const handleSubmit = async () =&gt; {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7"/>
          <p:cNvSpPr/>
          <p:nvPr/>
        </p:nvSpPr>
        <p:spPr>
          <a:xfrm>
            <a:off x="320040" y="198432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const res = await fetch(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8"/>
          <p:cNvSpPr/>
          <p:nvPr/>
        </p:nvSpPr>
        <p:spPr>
          <a:xfrm>
            <a:off x="320040" y="215784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9C74F"/>
                </a:solidFill>
                <a:effectLst/>
                <a:uFillTx/>
                <a:latin typeface="Consolas"/>
                <a:ea typeface="Consolas"/>
              </a:rPr>
              <a:t>   'http://localhost/api/colis.php',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9"/>
          <p:cNvSpPr/>
          <p:nvPr/>
        </p:nvSpPr>
        <p:spPr>
          <a:xfrm>
            <a:off x="320040" y="233172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{ method: 'POST',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0"/>
          <p:cNvSpPr/>
          <p:nvPr/>
        </p:nvSpPr>
        <p:spPr>
          <a:xfrm>
            <a:off x="320040" y="250560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 headers: { 'Content-Type':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1"/>
          <p:cNvSpPr/>
          <p:nvPr/>
        </p:nvSpPr>
        <p:spPr>
          <a:xfrm>
            <a:off x="320040" y="267912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9C74F"/>
                </a:solidFill>
                <a:effectLst/>
                <a:uFillTx/>
                <a:latin typeface="Consolas"/>
                <a:ea typeface="Consolas"/>
              </a:rPr>
              <a:t>       'application/json' },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2"/>
          <p:cNvSpPr/>
          <p:nvPr/>
        </p:nvSpPr>
        <p:spPr>
          <a:xfrm>
            <a:off x="320040" y="285300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 body: JSON.stringify({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3"/>
          <p:cNvSpPr/>
          <p:nvPr/>
        </p:nvSpPr>
        <p:spPr>
          <a:xfrm>
            <a:off x="320040" y="302652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   longueur, largeur, hauteur,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4"/>
          <p:cNvSpPr/>
          <p:nvPr/>
        </p:nvSpPr>
        <p:spPr>
          <a:xfrm>
            <a:off x="320040" y="320040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   destinataire, user,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5"/>
          <p:cNvSpPr/>
          <p:nvPr/>
        </p:nvSpPr>
        <p:spPr>
          <a:xfrm>
            <a:off x="320040" y="337428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   lockerId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6"/>
          <p:cNvSpPr/>
          <p:nvPr/>
        </p:nvSpPr>
        <p:spPr>
          <a:xfrm>
            <a:off x="320040" y="354780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 })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"/>
          <p:cNvSpPr/>
          <p:nvPr/>
        </p:nvSpPr>
        <p:spPr>
          <a:xfrm>
            <a:off x="320040" y="372168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}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8"/>
          <p:cNvSpPr/>
          <p:nvPr/>
        </p:nvSpPr>
        <p:spPr>
          <a:xfrm>
            <a:off x="320040" y="389520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9"/>
          <p:cNvSpPr/>
          <p:nvPr/>
        </p:nvSpPr>
        <p:spPr>
          <a:xfrm>
            <a:off x="320040" y="406908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const data = await res.json()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0"/>
          <p:cNvSpPr/>
          <p:nvPr/>
        </p:nvSpPr>
        <p:spPr>
          <a:xfrm>
            <a:off x="320040" y="424296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if (data.success) {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1"/>
          <p:cNvSpPr/>
          <p:nvPr/>
        </p:nvSpPr>
        <p:spPr>
          <a:xfrm>
            <a:off x="320040" y="441648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alert('Colis créé !')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2"/>
          <p:cNvSpPr/>
          <p:nvPr/>
        </p:nvSpPr>
        <p:spPr>
          <a:xfrm>
            <a:off x="320040" y="459036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goBack()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3"/>
          <p:cNvSpPr/>
          <p:nvPr/>
        </p:nvSpPr>
        <p:spPr>
          <a:xfrm>
            <a:off x="320040" y="476388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4"/>
          <p:cNvSpPr/>
          <p:nvPr/>
        </p:nvSpPr>
        <p:spPr>
          <a:xfrm>
            <a:off x="320040" y="4937760"/>
            <a:ext cx="49370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5"/>
          <p:cNvSpPr/>
          <p:nvPr/>
        </p:nvSpPr>
        <p:spPr>
          <a:xfrm>
            <a:off x="5669280" y="1371600"/>
            <a:ext cx="3108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Endpoints utilisés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26"/>
          <p:cNvSpPr/>
          <p:nvPr/>
        </p:nvSpPr>
        <p:spPr>
          <a:xfrm>
            <a:off x="5669280" y="18104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27"/>
          <p:cNvSpPr/>
          <p:nvPr/>
        </p:nvSpPr>
        <p:spPr>
          <a:xfrm>
            <a:off x="5669280" y="1810440"/>
            <a:ext cx="502200" cy="383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8"/>
          <p:cNvSpPr/>
          <p:nvPr/>
        </p:nvSpPr>
        <p:spPr>
          <a:xfrm>
            <a:off x="5669280" y="18104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9"/>
          <p:cNvSpPr/>
          <p:nvPr/>
        </p:nvSpPr>
        <p:spPr>
          <a:xfrm>
            <a:off x="6236280" y="18378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0"/>
          <p:cNvSpPr/>
          <p:nvPr/>
        </p:nvSpPr>
        <p:spPr>
          <a:xfrm>
            <a:off x="6236280" y="20116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Inscription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31"/>
          <p:cNvSpPr/>
          <p:nvPr/>
        </p:nvSpPr>
        <p:spPr>
          <a:xfrm>
            <a:off x="5669280" y="22676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32"/>
          <p:cNvSpPr/>
          <p:nvPr/>
        </p:nvSpPr>
        <p:spPr>
          <a:xfrm>
            <a:off x="5669280" y="2267640"/>
            <a:ext cx="502200" cy="383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33"/>
          <p:cNvSpPr/>
          <p:nvPr/>
        </p:nvSpPr>
        <p:spPr>
          <a:xfrm>
            <a:off x="5669280" y="22676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4"/>
          <p:cNvSpPr/>
          <p:nvPr/>
        </p:nvSpPr>
        <p:spPr>
          <a:xfrm>
            <a:off x="6236280" y="22950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user.php?action=login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6236280" y="24688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Connexion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36"/>
          <p:cNvSpPr/>
          <p:nvPr/>
        </p:nvSpPr>
        <p:spPr>
          <a:xfrm>
            <a:off x="5669280" y="27248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37"/>
          <p:cNvSpPr/>
          <p:nvPr/>
        </p:nvSpPr>
        <p:spPr>
          <a:xfrm>
            <a:off x="5669280" y="2724840"/>
            <a:ext cx="502200" cy="38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38"/>
          <p:cNvSpPr/>
          <p:nvPr/>
        </p:nvSpPr>
        <p:spPr>
          <a:xfrm>
            <a:off x="5669280" y="27248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39"/>
          <p:cNvSpPr/>
          <p:nvPr/>
        </p:nvSpPr>
        <p:spPr>
          <a:xfrm>
            <a:off x="6236280" y="27522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40"/>
          <p:cNvSpPr/>
          <p:nvPr/>
        </p:nvSpPr>
        <p:spPr>
          <a:xfrm>
            <a:off x="6236280" y="29260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Créer colis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41"/>
          <p:cNvSpPr/>
          <p:nvPr/>
        </p:nvSpPr>
        <p:spPr>
          <a:xfrm>
            <a:off x="5669280" y="31820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42"/>
          <p:cNvSpPr/>
          <p:nvPr/>
        </p:nvSpPr>
        <p:spPr>
          <a:xfrm>
            <a:off x="5669280" y="3182040"/>
            <a:ext cx="502200" cy="383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43"/>
          <p:cNvSpPr/>
          <p:nvPr/>
        </p:nvSpPr>
        <p:spPr>
          <a:xfrm>
            <a:off x="5669280" y="31820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44"/>
          <p:cNvSpPr/>
          <p:nvPr/>
        </p:nvSpPr>
        <p:spPr>
          <a:xfrm>
            <a:off x="6236280" y="320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colis.php?track=XXX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45"/>
          <p:cNvSpPr/>
          <p:nvPr/>
        </p:nvSpPr>
        <p:spPr>
          <a:xfrm>
            <a:off x="6236280" y="33832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Suivi colis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46"/>
          <p:cNvSpPr/>
          <p:nvPr/>
        </p:nvSpPr>
        <p:spPr>
          <a:xfrm>
            <a:off x="5669280" y="36392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47"/>
          <p:cNvSpPr/>
          <p:nvPr/>
        </p:nvSpPr>
        <p:spPr>
          <a:xfrm>
            <a:off x="5669280" y="3639240"/>
            <a:ext cx="502200" cy="383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48"/>
          <p:cNvSpPr/>
          <p:nvPr/>
        </p:nvSpPr>
        <p:spPr>
          <a:xfrm>
            <a:off x="5669280" y="36392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9"/>
          <p:cNvSpPr/>
          <p:nvPr/>
        </p:nvSpPr>
        <p:spPr>
          <a:xfrm>
            <a:off x="6236280" y="36666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colis.php?user=ID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0"/>
          <p:cNvSpPr/>
          <p:nvPr/>
        </p:nvSpPr>
        <p:spPr>
          <a:xfrm>
            <a:off x="6236280" y="38404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Mes colis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51"/>
          <p:cNvSpPr/>
          <p:nvPr/>
        </p:nvSpPr>
        <p:spPr>
          <a:xfrm>
            <a:off x="5669280" y="40964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52"/>
          <p:cNvSpPr/>
          <p:nvPr/>
        </p:nvSpPr>
        <p:spPr>
          <a:xfrm>
            <a:off x="5669280" y="4096440"/>
            <a:ext cx="502200" cy="3834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3"/>
          <p:cNvSpPr/>
          <p:nvPr/>
        </p:nvSpPr>
        <p:spPr>
          <a:xfrm>
            <a:off x="5669280" y="40964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GET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54"/>
          <p:cNvSpPr/>
          <p:nvPr/>
        </p:nvSpPr>
        <p:spPr>
          <a:xfrm>
            <a:off x="6236280" y="41238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account.php?id=ID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55"/>
          <p:cNvSpPr/>
          <p:nvPr/>
        </p:nvSpPr>
        <p:spPr>
          <a:xfrm>
            <a:off x="6236280" y="42976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Mon compte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56"/>
          <p:cNvSpPr/>
          <p:nvPr/>
        </p:nvSpPr>
        <p:spPr>
          <a:xfrm>
            <a:off x="5669280" y="4553640"/>
            <a:ext cx="3153960" cy="383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57"/>
          <p:cNvSpPr/>
          <p:nvPr/>
        </p:nvSpPr>
        <p:spPr>
          <a:xfrm>
            <a:off x="5669280" y="4553640"/>
            <a:ext cx="502200" cy="383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58"/>
          <p:cNvSpPr/>
          <p:nvPr/>
        </p:nvSpPr>
        <p:spPr>
          <a:xfrm>
            <a:off x="5669280" y="45536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59"/>
          <p:cNvSpPr/>
          <p:nvPr/>
        </p:nvSpPr>
        <p:spPr>
          <a:xfrm>
            <a:off x="6236280" y="45810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user.php?action=updateDispo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60"/>
          <p:cNvSpPr/>
          <p:nvPr/>
        </p:nvSpPr>
        <p:spPr>
          <a:xfrm>
            <a:off x="6236280" y="4754880"/>
            <a:ext cx="24681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Dispo livreur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Login.jsx — Connexion utilisateur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Login.jsx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Validation email avec regex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emailValide = (val)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const regex = /^[^\s@]+@[^\s@]+\.[^\s@]+$/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return regex.test(val)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4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handleLogin — POST fetch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res = await fetch('http://.../login',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method: 'POST',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body: JSON.stringify({ email, password 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data = await res.json()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1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Si succès → stockage + navigation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localStorage.setItem('user', JSON.stringify(data.user))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localStorage.setItem('type', data.type)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setIsLoggedIn(true)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9C74F"/>
                </a:solidFill>
                <a:effectLst/>
                <a:uFillTx/>
                <a:latin typeface="Consolas"/>
                <a:ea typeface="Consolas"/>
              </a:rPr>
              <a:t>if (data.type === 'livreur') setIsLivreur(true)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setPage('home')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6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27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28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9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Validation email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30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Regex avant l'envoi au serveur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1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32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3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Fetch POST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34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JSON vers http://.../login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35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36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37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localStorage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38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Stockage user + type de compte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39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40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1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Multi-rôles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42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Redirection si livreur détecté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3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44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45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Erreur affichée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46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msgErreur sous le champ email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Register.jsx — Création de compte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Register.jsx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Validation complète avant envoi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nouvErreurs = {}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if (!nom.trim())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nouvErreurs.nom = 'Le nom est obligatoire'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if (!emailValide(email))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nouvErreurs.email = 'Email invalide'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if (telephone.length !== 10)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nouvErreurs.telephone = '10 chiffres requis'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setErreurs(nouvErreurs)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if (Object.keys(nouvErreurs).length &gt; 0) return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Nettoyage téléphone (chiffres seulement)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handleTelephone = (e)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const val = e.target.value.replace(/\D/g, '')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if (val.length &lt;= 10) setTelephone(val)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2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Envoi POST → alert message retour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res = await fetch('.../register', { ... 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6"/>
          <p:cNvSpPr/>
          <p:nvPr/>
        </p:nvSpPr>
        <p:spPr>
          <a:xfrm>
            <a:off x="292680" y="48463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alert(data.message)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27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Champs validés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8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9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30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Nom &amp; Prénom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31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Obligatoires, non vides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2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33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34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35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Regex format valide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6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37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38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Téléphone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39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Exactement 10 chiffres (replace /\D/g)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0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1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42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Mot de passe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43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Non vide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44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45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46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Layout 2 cols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47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Nom + Prénom côte à côte (.row .halfField)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CreateColis.jsx — Formulaire 3 étapes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CreateColis.jsx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Étape 1 : Dimensions + numéro auto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[numero] = useState(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Math.floor(100000 + Math.random() * 900000)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Étape 2 : Leaflet chargé dynamiquement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script = document.createElement('script')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script.src = 'https://.../leaflet.min.js'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script.onload = () =&gt; setMapReady(true)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Marqueur → popup → bouton Choisir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window.choisirLocker = (id)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const found = LOCKERS.find(l =&gt; l.id === id)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if (found) { setLockerChoisi(found) 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Étape 3 : POST vers API PHP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await fetch('http://.../colis.php',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body: JSON.stringify({ num_colis, longueur,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26"/>
          <p:cNvSpPr/>
          <p:nvPr/>
        </p:nvSpPr>
        <p:spPr>
          <a:xfrm>
            <a:off x="292680" y="48463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largeur, hauteur, destinataire, idExpediteur 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27"/>
          <p:cNvSpPr/>
          <p:nvPr/>
        </p:nvSpPr>
        <p:spPr>
          <a:xfrm>
            <a:off x="292680" y="50292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28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Logique 3 étapes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9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30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31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useState(etape)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32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Contrôle quelle étape s'affiche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33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4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35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Leaflet dynamique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36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Script + CSS injectés via useEffect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37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38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39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window.choisirLocker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40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Callback popup → setLockerChoisi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41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42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43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Numéro auto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44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Math.random() 6 chiffres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45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6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47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buttonDisabled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48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Bouton Suivant grisé si pas de locker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Track.jsx — Suivi sans connexion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Track.jsx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Accessible sans être connecté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[numero, setNumero] = useState('')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[colis, setColis] = useState(null)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[erreur, setErreur] = useState('')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7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handleSearch = async ()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setErreur('')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setColis(null)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const res = await fetch(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9C74F"/>
                </a:solidFill>
                <a:effectLst/>
                <a:uFillTx/>
                <a:latin typeface="Consolas"/>
                <a:ea typeface="Consolas"/>
              </a:rPr>
              <a:t>    `http://localhost:3001/track/${numero}`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const data = await res.json()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6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if (data.success === false)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  setErreur('Aucun colis trouvé.')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} else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setColis(data)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26"/>
          <p:cNvSpPr/>
          <p:nvPr/>
        </p:nvSpPr>
        <p:spPr>
          <a:xfrm>
            <a:off x="292680" y="48463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27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8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29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30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Sans connexion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31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Aucun localStorage requis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32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33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34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GET dynamique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35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URL avec numéro en paramètre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36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37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8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alertRed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39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Message si colis introuvable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40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41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42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card résultat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43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Dimensions + destinataire affichés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44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45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46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État local simple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47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 useState suffit (numero, colis, erreur)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Account.jsx — Mon compte &amp; mes colis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Account.jsx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Chargement au montage (useEffect)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useEffect(()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const u = JSON.parse(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9C74F"/>
                </a:solidFill>
                <a:effectLst/>
                <a:uFillTx/>
                <a:latin typeface="Consolas"/>
                <a:ea typeface="Consolas"/>
              </a:rPr>
              <a:t>    localStorage.getItem('user') || '{}'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setUser(u)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7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  // Récupérer les colis du user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fetch(`http://.../colis-user/${u.id}`)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.then(res =&gt; res.json())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.then(data =&gt; setColis(data))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F87171"/>
                </a:solidFill>
                <a:effectLst/>
                <a:uFillTx/>
                <a:latin typeface="Consolas"/>
                <a:ea typeface="Consolas"/>
              </a:rPr>
              <a:t>    .catch(err =&gt; console.error(err))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}, [])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Affichage conditionnel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{user &amp;&amp; (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&lt;div className='card'&gt;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&lt;p&gt;{user.nom} {user.prenom}&lt;/p&gt;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&lt;/div&gt;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26"/>
          <p:cNvSpPr/>
          <p:nvPr/>
        </p:nvSpPr>
        <p:spPr>
          <a:xfrm>
            <a:off x="292680" y="48463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)}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27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28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29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30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useEffect []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31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Chargement unique au montage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32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33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34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localStorage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35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Récupère l'objet user complet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36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37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8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GET colis-user/id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39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Colis liés à cet utilisateur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40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41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42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map() sur colis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43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Affichage dynamique de chaque colis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4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45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46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Affichage conditionnel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47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user &amp;&amp; &lt;div&gt; pour éviter erreur null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LivreurPage.jsx — Espace livreur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4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5"/>
          <p:cNvSpPr/>
          <p:nvPr/>
        </p:nvSpPr>
        <p:spPr>
          <a:xfrm>
            <a:off x="6217920" y="274320"/>
            <a:ext cx="2651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LivreurPage.jsx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6"/>
          <p:cNvSpPr/>
          <p:nvPr/>
        </p:nvSpPr>
        <p:spPr>
          <a:xfrm>
            <a:off x="201240" y="1261800"/>
            <a:ext cx="5211360" cy="3565440"/>
          </a:xfrm>
          <a:prstGeom prst="rect">
            <a:avLst/>
          </a:prstGeom>
          <a:solidFill>
            <a:srgbClr val="0D1B2A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7"/>
          <p:cNvSpPr/>
          <p:nvPr/>
        </p:nvSpPr>
        <p:spPr>
          <a:xfrm>
            <a:off x="292680" y="13716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Chargement de tous les colis dispo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8"/>
          <p:cNvSpPr/>
          <p:nvPr/>
        </p:nvSpPr>
        <p:spPr>
          <a:xfrm>
            <a:off x="292680" y="15544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useEffect(()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9"/>
          <p:cNvSpPr/>
          <p:nvPr/>
        </p:nvSpPr>
        <p:spPr>
          <a:xfrm>
            <a:off x="292680" y="17373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fetch('http://localhost:3001/all-colis')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10"/>
          <p:cNvSpPr/>
          <p:nvPr/>
        </p:nvSpPr>
        <p:spPr>
          <a:xfrm>
            <a:off x="292680" y="19202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.then(res =&gt; res.json())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1"/>
          <p:cNvSpPr/>
          <p:nvPr/>
        </p:nvSpPr>
        <p:spPr>
          <a:xfrm>
            <a:off x="292680" y="21031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.then(data =&gt; setColis(data))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2"/>
          <p:cNvSpPr/>
          <p:nvPr/>
        </p:nvSpPr>
        <p:spPr>
          <a:xfrm>
            <a:off x="292680" y="22860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}, [])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3"/>
          <p:cNvSpPr/>
          <p:nvPr/>
        </p:nvSpPr>
        <p:spPr>
          <a:xfrm>
            <a:off x="292680" y="24688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5" name="Text 14"/>
          <p:cNvSpPr/>
          <p:nvPr/>
        </p:nvSpPr>
        <p:spPr>
          <a:xfrm>
            <a:off x="292680" y="26517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Mettre à jour sa disponibilité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15"/>
          <p:cNvSpPr/>
          <p:nvPr/>
        </p:nvSpPr>
        <p:spPr>
          <a:xfrm>
            <a:off x="292680" y="28346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const updateDispo = async () =&gt;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6"/>
          <p:cNvSpPr/>
          <p:nvPr/>
        </p:nvSpPr>
        <p:spPr>
          <a:xfrm>
            <a:off x="292680" y="30175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await fetch('.../update-dispo', 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17"/>
          <p:cNvSpPr/>
          <p:nvPr/>
        </p:nvSpPr>
        <p:spPr>
          <a:xfrm>
            <a:off x="292680" y="32004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method: 'POST',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18"/>
          <p:cNvSpPr/>
          <p:nvPr/>
        </p:nvSpPr>
        <p:spPr>
          <a:xfrm>
            <a:off x="292680" y="33832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body: JSON.stringify({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19"/>
          <p:cNvSpPr/>
          <p:nvPr/>
        </p:nvSpPr>
        <p:spPr>
          <a:xfrm>
            <a:off x="292680" y="35661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  idLivreur: user.id,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20"/>
          <p:cNvSpPr/>
          <p:nvPr/>
        </p:nvSpPr>
        <p:spPr>
          <a:xfrm>
            <a:off x="292680" y="37490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8BBE77"/>
                </a:solidFill>
                <a:effectLst/>
                <a:uFillTx/>
                <a:latin typeface="Consolas"/>
                <a:ea typeface="Consolas"/>
              </a:rPr>
              <a:t>      disponibilite: 'Disponible'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1"/>
          <p:cNvSpPr/>
          <p:nvPr/>
        </p:nvSpPr>
        <p:spPr>
          <a:xfrm>
            <a:off x="292680" y="39319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  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2"/>
          <p:cNvSpPr/>
          <p:nvPr/>
        </p:nvSpPr>
        <p:spPr>
          <a:xfrm>
            <a:off x="292680" y="411480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})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23"/>
          <p:cNvSpPr/>
          <p:nvPr/>
        </p:nvSpPr>
        <p:spPr>
          <a:xfrm>
            <a:off x="292680" y="429768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  alert('OK')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24"/>
          <p:cNvSpPr/>
          <p:nvPr/>
        </p:nvSpPr>
        <p:spPr>
          <a:xfrm>
            <a:off x="292680" y="448056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D9D9D9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25"/>
          <p:cNvSpPr/>
          <p:nvPr/>
        </p:nvSpPr>
        <p:spPr>
          <a:xfrm>
            <a:off x="292680" y="466344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78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7" name="Text 26"/>
          <p:cNvSpPr/>
          <p:nvPr/>
        </p:nvSpPr>
        <p:spPr>
          <a:xfrm>
            <a:off x="292680" y="4846320"/>
            <a:ext cx="50284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6B9FD4"/>
                </a:solidFill>
                <a:effectLst/>
                <a:uFillTx/>
                <a:latin typeface="Consolas"/>
                <a:ea typeface="Consolas"/>
              </a:rPr>
              <a:t>// Affiche la liste des colis avec .map()</a:t>
            </a:r>
            <a:endParaRPr lang="fr-FR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27"/>
          <p:cNvSpPr/>
          <p:nvPr/>
        </p:nvSpPr>
        <p:spPr>
          <a:xfrm>
            <a:off x="5577840" y="137160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28"/>
          <p:cNvSpPr/>
          <p:nvPr/>
        </p:nvSpPr>
        <p:spPr>
          <a:xfrm>
            <a:off x="5577840" y="1828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29"/>
          <p:cNvSpPr/>
          <p:nvPr/>
        </p:nvSpPr>
        <p:spPr>
          <a:xfrm>
            <a:off x="5577840" y="1828800"/>
            <a:ext cx="5400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0"/>
          <p:cNvSpPr/>
          <p:nvPr/>
        </p:nvSpPr>
        <p:spPr>
          <a:xfrm>
            <a:off x="5706000" y="186552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Accès protégé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1"/>
          <p:cNvSpPr/>
          <p:nvPr/>
        </p:nvSpPr>
        <p:spPr>
          <a:xfrm>
            <a:off x="5706000" y="2066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isLivreur requis dans App.jsx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32"/>
          <p:cNvSpPr/>
          <p:nvPr/>
        </p:nvSpPr>
        <p:spPr>
          <a:xfrm>
            <a:off x="5577840" y="2395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33"/>
          <p:cNvSpPr/>
          <p:nvPr/>
        </p:nvSpPr>
        <p:spPr>
          <a:xfrm>
            <a:off x="5577840" y="2395800"/>
            <a:ext cx="54000" cy="456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34"/>
          <p:cNvSpPr/>
          <p:nvPr/>
        </p:nvSpPr>
        <p:spPr>
          <a:xfrm>
            <a:off x="5706000" y="2432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GET all-colis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35"/>
          <p:cNvSpPr/>
          <p:nvPr/>
        </p:nvSpPr>
        <p:spPr>
          <a:xfrm>
            <a:off x="5706000" y="2633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Liste tous les colis à livrer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36"/>
          <p:cNvSpPr/>
          <p:nvPr/>
        </p:nvSpPr>
        <p:spPr>
          <a:xfrm>
            <a:off x="5577840" y="296280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37"/>
          <p:cNvSpPr/>
          <p:nvPr/>
        </p:nvSpPr>
        <p:spPr>
          <a:xfrm>
            <a:off x="5577840" y="2962800"/>
            <a:ext cx="54000" cy="456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38"/>
          <p:cNvSpPr/>
          <p:nvPr/>
        </p:nvSpPr>
        <p:spPr>
          <a:xfrm>
            <a:off x="5706000" y="2999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POST update-dispo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39"/>
          <p:cNvSpPr/>
          <p:nvPr/>
        </p:nvSpPr>
        <p:spPr>
          <a:xfrm>
            <a:off x="5706000" y="3200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Change le statut du livreur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40"/>
          <p:cNvSpPr/>
          <p:nvPr/>
        </p:nvSpPr>
        <p:spPr>
          <a:xfrm>
            <a:off x="5577840" y="3529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Shape 41"/>
          <p:cNvSpPr/>
          <p:nvPr/>
        </p:nvSpPr>
        <p:spPr>
          <a:xfrm>
            <a:off x="5577840" y="3529440"/>
            <a:ext cx="5400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42"/>
          <p:cNvSpPr/>
          <p:nvPr/>
        </p:nvSpPr>
        <p:spPr>
          <a:xfrm>
            <a:off x="5706000" y="3566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buttonGreen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43"/>
          <p:cNvSpPr/>
          <p:nvPr/>
        </p:nvSpPr>
        <p:spPr>
          <a:xfrm>
            <a:off x="5706000" y="3767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Bouton vert dédié livreur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4"/>
          <p:cNvSpPr/>
          <p:nvPr/>
        </p:nvSpPr>
        <p:spPr>
          <a:xfrm>
            <a:off x="5577840" y="4096440"/>
            <a:ext cx="3291120" cy="456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45"/>
          <p:cNvSpPr/>
          <p:nvPr/>
        </p:nvSpPr>
        <p:spPr>
          <a:xfrm>
            <a:off x="5577840" y="4096440"/>
            <a:ext cx="54000" cy="456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46"/>
          <p:cNvSpPr/>
          <p:nvPr/>
        </p:nvSpPr>
        <p:spPr>
          <a:xfrm>
            <a:off x="5706000" y="413316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user.id via localStorage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47"/>
          <p:cNvSpPr/>
          <p:nvPr/>
        </p:nvSpPr>
        <p:spPr>
          <a:xfrm>
            <a:off x="5706000" y="4334400"/>
            <a:ext cx="3016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ID récupéré depuis la session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1"/>
          <p:cNvSpPr/>
          <p:nvPr/>
        </p:nvSpPr>
        <p:spPr>
          <a:xfrm>
            <a:off x="201240" y="16452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07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2"/>
          <p:cNvSpPr/>
          <p:nvPr/>
        </p:nvSpPr>
        <p:spPr>
          <a:xfrm>
            <a:off x="201240" y="50292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Ce qui reste à faire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3"/>
          <p:cNvSpPr/>
          <p:nvPr/>
        </p:nvSpPr>
        <p:spPr>
          <a:xfrm>
            <a:off x="200880" y="1115280"/>
            <a:ext cx="868680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4"/>
          <p:cNvSpPr/>
          <p:nvPr/>
        </p:nvSpPr>
        <p:spPr>
          <a:xfrm>
            <a:off x="201240" y="1261800"/>
            <a:ext cx="411408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5"/>
          <p:cNvSpPr/>
          <p:nvPr/>
        </p:nvSpPr>
        <p:spPr>
          <a:xfrm>
            <a:off x="201240" y="1261800"/>
            <a:ext cx="4114080" cy="456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6"/>
          <p:cNvSpPr/>
          <p:nvPr/>
        </p:nvSpPr>
        <p:spPr>
          <a:xfrm>
            <a:off x="320040" y="1261800"/>
            <a:ext cx="38397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✅  Réalisé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7"/>
          <p:cNvSpPr/>
          <p:nvPr/>
        </p:nvSpPr>
        <p:spPr>
          <a:xfrm>
            <a:off x="320040" y="182880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Site web React (login, register, colis, suivi, livreur)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8"/>
          <p:cNvSpPr/>
          <p:nvPr/>
        </p:nvSpPr>
        <p:spPr>
          <a:xfrm>
            <a:off x="320040" y="224928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API PHP (user, colis, account, track)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9"/>
          <p:cNvSpPr/>
          <p:nvPr/>
        </p:nvSpPr>
        <p:spPr>
          <a:xfrm>
            <a:off x="320040" y="267012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Base de données MySQL connectée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0"/>
          <p:cNvSpPr/>
          <p:nvPr/>
        </p:nvSpPr>
        <p:spPr>
          <a:xfrm>
            <a:off x="320040" y="309060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Validation formulaires côté front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11"/>
          <p:cNvSpPr/>
          <p:nvPr/>
        </p:nvSpPr>
        <p:spPr>
          <a:xfrm>
            <a:off x="320040" y="351144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Carte OpenStreetMap intégrée (Leaflet.js)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2"/>
          <p:cNvSpPr/>
          <p:nvPr/>
        </p:nvSpPr>
        <p:spPr>
          <a:xfrm>
            <a:off x="320040" y="393192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Attribution automatique d'un livreur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3"/>
          <p:cNvSpPr/>
          <p:nvPr/>
        </p:nvSpPr>
        <p:spPr>
          <a:xfrm>
            <a:off x="320040" y="4352400"/>
            <a:ext cx="3839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✓  Maquette physique (casiers + électronique)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4"/>
          <p:cNvSpPr/>
          <p:nvPr/>
        </p:nvSpPr>
        <p:spPr>
          <a:xfrm>
            <a:off x="4572000" y="1261800"/>
            <a:ext cx="4205520" cy="35654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15"/>
          <p:cNvSpPr/>
          <p:nvPr/>
        </p:nvSpPr>
        <p:spPr>
          <a:xfrm>
            <a:off x="4572000" y="1261800"/>
            <a:ext cx="4205520" cy="456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16"/>
          <p:cNvSpPr/>
          <p:nvPr/>
        </p:nvSpPr>
        <p:spPr>
          <a:xfrm>
            <a:off x="4681800" y="1261800"/>
            <a:ext cx="3931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🔧  À faire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17"/>
          <p:cNvSpPr/>
          <p:nvPr/>
        </p:nvSpPr>
        <p:spPr>
          <a:xfrm>
            <a:off x="4681800" y="182880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Double authentification (2FA)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18"/>
          <p:cNvSpPr/>
          <p:nvPr/>
        </p:nvSpPr>
        <p:spPr>
          <a:xfrm>
            <a:off x="4681800" y="231336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Génération PDF avec QR code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19"/>
          <p:cNvSpPr/>
          <p:nvPr/>
        </p:nvSpPr>
        <p:spPr>
          <a:xfrm>
            <a:off x="4681800" y="279792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Notifications SMS &amp; email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0"/>
          <p:cNvSpPr/>
          <p:nvPr/>
        </p:nvSpPr>
        <p:spPr>
          <a:xfrm>
            <a:off x="4681800" y="328284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Application mobile livreur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1"/>
          <p:cNvSpPr/>
          <p:nvPr/>
        </p:nvSpPr>
        <p:spPr>
          <a:xfrm>
            <a:off x="4681800" y="376740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Programmation Raspberry Pi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22"/>
          <p:cNvSpPr/>
          <p:nvPr/>
        </p:nvSpPr>
        <p:spPr>
          <a:xfrm>
            <a:off x="4681800" y="4251960"/>
            <a:ext cx="3931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○  Tests d'intégration complets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1"/>
          <p:cNvSpPr/>
          <p:nvPr/>
        </p:nvSpPr>
        <p:spPr>
          <a:xfrm>
            <a:off x="365760" y="1005840"/>
            <a:ext cx="841176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fr-FR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2"/>
          <p:cNvSpPr/>
          <p:nvPr/>
        </p:nvSpPr>
        <p:spPr>
          <a:xfrm>
            <a:off x="365760" y="2331720"/>
            <a:ext cx="45720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"/>
          <p:cNvSpPr/>
          <p:nvPr/>
        </p:nvSpPr>
        <p:spPr>
          <a:xfrm>
            <a:off x="365760" y="2514600"/>
            <a:ext cx="8228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Projet Locker  —  BTS CIEL IR  |  Session 2026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0B4C8"/>
                </a:solidFill>
                <a:effectLst/>
                <a:uFillTx/>
                <a:latin typeface="Calibri"/>
                <a:ea typeface="Calibri"/>
              </a:rPr>
              <a:t>Cité scolaire Mauriac-Desgranges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5"/>
          <p:cNvSpPr/>
          <p:nvPr/>
        </p:nvSpPr>
        <p:spPr>
          <a:xfrm>
            <a:off x="365760" y="3429000"/>
            <a:ext cx="2010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LibreOffice/26.2.0.3$Windows_X86_64 LibreOffice_project/620$Build-3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2026-06-04T11:29:20Z</dcterms:created>
  <dc:creator>PptxGenJS</dc:creator>
  <dc:description/>
  <dc:language>fr-FR</dc:language>
  <cp:lastModifiedBy/>
  <dcterms:modified xsi:type="dcterms:W3CDTF">2026-06-04T13:34:00Z</dcterms:modified>
  <cp:revision>5</cp:revision>
  <dc:subject>PptxGenJS Presentation</dc:subject>
  <dc:title>Projet Locker – Revue de Projet 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25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