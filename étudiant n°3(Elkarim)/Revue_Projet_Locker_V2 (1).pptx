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déplacer la diapo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6EEDEDE-BF1A-4AD6-9598-20653E1E56A5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EE1377-ABC8-415E-A496-6EC1359A84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06FF8A-EBEF-4730-A59D-C9919D6ECE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144BBE-4F54-475C-A6FD-22FCB91373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40AF04-6976-4F3A-92C0-616D99896F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390173-3BEE-4D72-BB10-F61A9AEFBE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749358-B841-4390-A2AE-30EBC3A6E9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030787-FB6D-4EA5-B3DB-735F886390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D894EB5-4474-4195-9976-B9FB2493CF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9B18CA-4382-454E-BBDE-F5F003153F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E95BCA-EC6E-4A99-BD7A-A4AEFC3D30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2A8816-9919-41B7-8A62-2812F9596F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06737D-DD7B-4419-9E03-358CFE4527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9A3E1B-2793-42BE-A0A3-DD786FD0B0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39EB44-F524-4D75-8E3F-1381CB1A88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5530C5-2CCD-466D-B495-3BFD4E754E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8468CB7-9D52-4CE4-A149-C49AFED761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C041DF-A507-4065-BDB8-DC1FFA9E03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5D5850-FAB2-4D0E-B051-2CEBB4F0BD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03394D-E48F-4899-8C13-6BD63C74E5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AC2CFB-511F-4CE4-85DD-A3F2E83801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3207B3-2C87-498D-9658-D27DF20D9D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227DC37-4C6C-44A9-8E9D-71D623E592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8F9F97-E867-49B4-B3F9-684139C771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E1CF96-56DD-454C-89F7-E748552CF3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4E6BBC-2124-4919-82AD-C07CB86562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903CFC-1094-424A-BCC6-618A796A71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365760" y="64008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pc="79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📦 LOCKER</a:t>
            </a:r>
            <a:endParaRPr lang="fr-FR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65760" y="173736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Système de gestion de casiers intelligents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365760" y="2331720"/>
            <a:ext cx="5486400" cy="360"/>
          </a:xfrm>
          <a:prstGeom prst="line">
            <a:avLst/>
          </a:prstGeom>
          <a:ln w="254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65760" y="2514600"/>
            <a:ext cx="7314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Revue de Projet  —  BTS CIEL IR  |  Session 2026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Cité scolaire Mauriac-Desgranges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8"/>
          <p:cNvSpPr/>
          <p:nvPr/>
        </p:nvSpPr>
        <p:spPr>
          <a:xfrm>
            <a:off x="2423160" y="3429000"/>
            <a:ext cx="191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4480560" y="3429000"/>
            <a:ext cx="191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537960" y="3429000"/>
            <a:ext cx="191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65760" y="44805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06070"/>
                </a:solidFill>
                <a:effectLst/>
                <a:uFillTx/>
                <a:latin typeface="Calibri"/>
                <a:ea typeface="Calibri"/>
              </a:rPr>
              <a:t>Tuteurs : L. Guerin  —  J. Kaczorek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Sommaire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228600" y="1325880"/>
            <a:ext cx="4205520" cy="749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228600" y="1325880"/>
            <a:ext cx="502200" cy="7491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228600" y="1325880"/>
            <a:ext cx="5022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822960" y="1398960"/>
            <a:ext cx="3474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Contexte &amp; Objectifs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822960" y="17283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Pourquoi un locker ? Cahier des charges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228600" y="2240280"/>
            <a:ext cx="4205520" cy="749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228600" y="2240280"/>
            <a:ext cx="502200" cy="7491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228600" y="2240280"/>
            <a:ext cx="5022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822960" y="2313360"/>
            <a:ext cx="3474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Architecture globale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822960" y="26427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Déploiement, technologies, diagrammes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228600" y="3154680"/>
            <a:ext cx="4205520" cy="749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228600" y="3154680"/>
            <a:ext cx="502200" cy="7491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228600" y="3154680"/>
            <a:ext cx="5022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822960" y="3227760"/>
            <a:ext cx="3474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Maquette physique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822960" y="35571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Locker, Raspberry Pi, Arduino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228600" y="4069080"/>
            <a:ext cx="4205520" cy="749160"/>
          </a:xfrm>
          <a:prstGeom prst="rect">
            <a:avLst/>
          </a:prstGeom>
          <a:solidFill>
            <a:srgbClr val="EFF9FF"/>
          </a:solidFill>
          <a:ln w="254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228600" y="4069080"/>
            <a:ext cx="502200" cy="749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228600" y="4069080"/>
            <a:ext cx="5022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822960" y="4142160"/>
            <a:ext cx="3474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Site web — ma partie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822960" y="44715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React, code, fonctionnalités développées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3"/>
          <p:cNvSpPr/>
          <p:nvPr/>
        </p:nvSpPr>
        <p:spPr>
          <a:xfrm>
            <a:off x="4663440" y="1325880"/>
            <a:ext cx="4205520" cy="749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4"/>
          <p:cNvSpPr/>
          <p:nvPr/>
        </p:nvSpPr>
        <p:spPr>
          <a:xfrm>
            <a:off x="4663440" y="1325880"/>
            <a:ext cx="502200" cy="7491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4663440" y="1325880"/>
            <a:ext cx="5022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5257800" y="1398960"/>
            <a:ext cx="3474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API PHP &amp; Base de données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7"/>
          <p:cNvSpPr/>
          <p:nvPr/>
        </p:nvSpPr>
        <p:spPr>
          <a:xfrm>
            <a:off x="5257800" y="17283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Endpoints, schéma BDD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8"/>
          <p:cNvSpPr/>
          <p:nvPr/>
        </p:nvSpPr>
        <p:spPr>
          <a:xfrm>
            <a:off x="4663440" y="2240280"/>
            <a:ext cx="4205520" cy="749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9"/>
          <p:cNvSpPr/>
          <p:nvPr/>
        </p:nvSpPr>
        <p:spPr>
          <a:xfrm>
            <a:off x="4663440" y="2240280"/>
            <a:ext cx="502200" cy="7491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0"/>
          <p:cNvSpPr/>
          <p:nvPr/>
        </p:nvSpPr>
        <p:spPr>
          <a:xfrm>
            <a:off x="4663440" y="2240280"/>
            <a:ext cx="5022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1"/>
          <p:cNvSpPr/>
          <p:nvPr/>
        </p:nvSpPr>
        <p:spPr>
          <a:xfrm>
            <a:off x="5257800" y="2313360"/>
            <a:ext cx="3474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Diagrammes UML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2"/>
          <p:cNvSpPr/>
          <p:nvPr/>
        </p:nvSpPr>
        <p:spPr>
          <a:xfrm>
            <a:off x="5257800" y="26427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Cas d'utilisation, séquence, états, exigences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3"/>
          <p:cNvSpPr/>
          <p:nvPr/>
        </p:nvSpPr>
        <p:spPr>
          <a:xfrm>
            <a:off x="4663440" y="3154680"/>
            <a:ext cx="4205520" cy="749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4"/>
          <p:cNvSpPr/>
          <p:nvPr/>
        </p:nvSpPr>
        <p:spPr>
          <a:xfrm>
            <a:off x="4663440" y="3154680"/>
            <a:ext cx="502200" cy="7491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5"/>
          <p:cNvSpPr/>
          <p:nvPr/>
        </p:nvSpPr>
        <p:spPr>
          <a:xfrm>
            <a:off x="4663440" y="3154680"/>
            <a:ext cx="5022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6"/>
          <p:cNvSpPr/>
          <p:nvPr/>
        </p:nvSpPr>
        <p:spPr>
          <a:xfrm>
            <a:off x="5257800" y="3227760"/>
            <a:ext cx="3474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Ce qui reste à faire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7"/>
          <p:cNvSpPr/>
          <p:nvPr/>
        </p:nvSpPr>
        <p:spPr>
          <a:xfrm>
            <a:off x="5257800" y="35571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2FA, PDF, SMS, app mobile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Contexte &amp; Objectifs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201240" y="1280160"/>
            <a:ext cx="4114080" cy="3474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320040" y="138996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6CA8"/>
                </a:solidFill>
                <a:effectLst/>
                <a:uFillTx/>
                <a:latin typeface="Calibri"/>
                <a:ea typeface="Calibri"/>
              </a:rPr>
              <a:t>Contexte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320040" y="1783080"/>
            <a:ext cx="383976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L'essor du e-commerce crée des défis de livraison. Les lockers permettent de récupérer des colis 24h/24 - 7j/7, comme chez La Poste, Amazon ou Vinted.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Dans le cadre du BTS CIEL, nous réalisons une maquette fonctionnelle complète d'un système de locker intelligent connecté.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4572000" y="1298520"/>
            <a:ext cx="4205520" cy="56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4663440" y="1398960"/>
            <a:ext cx="346680" cy="3466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5120640" y="1353240"/>
            <a:ext cx="3474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Base de données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5120640" y="1591200"/>
            <a:ext cx="3474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MySQL sécurisée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4572000" y="1974960"/>
            <a:ext cx="4205520" cy="56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4663440" y="2075760"/>
            <a:ext cx="346680" cy="3466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5120640" y="2030040"/>
            <a:ext cx="3474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API PHP REST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5120640" y="2267640"/>
            <a:ext cx="3474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Création, suivi, authentification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4572000" y="2651760"/>
            <a:ext cx="4205520" cy="56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4663440" y="2752200"/>
            <a:ext cx="346680" cy="3466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5120640" y="2706480"/>
            <a:ext cx="3474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Site web React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5120640" y="2944440"/>
            <a:ext cx="3474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Multi-rôles (client, livreur)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9"/>
          <p:cNvSpPr/>
          <p:nvPr/>
        </p:nvSpPr>
        <p:spPr>
          <a:xfrm>
            <a:off x="4572000" y="3328560"/>
            <a:ext cx="4205520" cy="56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0"/>
          <p:cNvSpPr/>
          <p:nvPr/>
        </p:nvSpPr>
        <p:spPr>
          <a:xfrm>
            <a:off x="4663440" y="3429000"/>
            <a:ext cx="346680" cy="346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5120640" y="3383280"/>
            <a:ext cx="3474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App mobile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5120640" y="3620880"/>
            <a:ext cx="3474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Livreur : scan QR code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4572000" y="4005000"/>
            <a:ext cx="4205520" cy="56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4"/>
          <p:cNvSpPr/>
          <p:nvPr/>
        </p:nvSpPr>
        <p:spPr>
          <a:xfrm>
            <a:off x="4663440" y="4105800"/>
            <a:ext cx="346680" cy="3466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5"/>
          <p:cNvSpPr/>
          <p:nvPr/>
        </p:nvSpPr>
        <p:spPr>
          <a:xfrm>
            <a:off x="5120640" y="4060080"/>
            <a:ext cx="3474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Raspberry Pi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5120640" y="4297680"/>
            <a:ext cx="3474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Pilotage physique du locker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0" descr="preencoded.png"/>
          <p:cNvPicPr/>
          <p:nvPr/>
        </p:nvPicPr>
        <p:blipFill>
          <a:blip r:embed="rId1"/>
          <a:stretch/>
        </p:blipFill>
        <p:spPr>
          <a:xfrm>
            <a:off x="320040" y="3291840"/>
            <a:ext cx="2193840" cy="164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27"/>
          <p:cNvSpPr/>
          <p:nvPr/>
        </p:nvSpPr>
        <p:spPr>
          <a:xfrm>
            <a:off x="320040" y="4892040"/>
            <a:ext cx="21938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Maquette physique du locker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Architecture globale du système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0" descr="preencoded.png"/>
          <p:cNvPicPr/>
          <p:nvPr/>
        </p:nvPicPr>
        <p:blipFill>
          <a:blip r:embed="rId1"/>
          <a:stretch/>
        </p:blipFill>
        <p:spPr>
          <a:xfrm>
            <a:off x="201240" y="1234440"/>
            <a:ext cx="8740800" cy="374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4"/>
          <p:cNvSpPr/>
          <p:nvPr/>
        </p:nvSpPr>
        <p:spPr>
          <a:xfrm>
            <a:off x="201240" y="4846320"/>
            <a:ext cx="874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Diagramme de déploiement — Système de Locker Intelligent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Technologies utilisées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201240" y="1261800"/>
            <a:ext cx="2010960" cy="3565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5"/>
          <p:cNvSpPr/>
          <p:nvPr/>
        </p:nvSpPr>
        <p:spPr>
          <a:xfrm>
            <a:off x="201240" y="1261800"/>
            <a:ext cx="2010960" cy="474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201240" y="1261800"/>
            <a:ext cx="2010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Frontend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292680" y="182880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javascript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292680" y="246888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CSS custom classes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292680" y="31089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Leaflet.js (OSM)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292680" y="37490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Fetch API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2395800" y="1261800"/>
            <a:ext cx="2010960" cy="3565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2395800" y="1261800"/>
            <a:ext cx="2010960" cy="474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2395800" y="1261800"/>
            <a:ext cx="2010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Backend API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2487240" y="182880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PHP 8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2487240" y="246888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MySQL / MariaDB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2487240" y="31089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Port 3307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7"/>
          <p:cNvSpPr/>
          <p:nvPr/>
        </p:nvSpPr>
        <p:spPr>
          <a:xfrm>
            <a:off x="2487240" y="37490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JSON REST API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8"/>
          <p:cNvSpPr/>
          <p:nvPr/>
        </p:nvSpPr>
        <p:spPr>
          <a:xfrm>
            <a:off x="4590360" y="1261800"/>
            <a:ext cx="2010960" cy="3565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9"/>
          <p:cNvSpPr/>
          <p:nvPr/>
        </p:nvSpPr>
        <p:spPr>
          <a:xfrm>
            <a:off x="4590360" y="1261800"/>
            <a:ext cx="2010960" cy="474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0"/>
          <p:cNvSpPr/>
          <p:nvPr/>
        </p:nvSpPr>
        <p:spPr>
          <a:xfrm>
            <a:off x="4590360" y="1261800"/>
            <a:ext cx="2010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Matériel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1"/>
          <p:cNvSpPr/>
          <p:nvPr/>
        </p:nvSpPr>
        <p:spPr>
          <a:xfrm>
            <a:off x="4681800" y="182880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Raspberry Pi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2"/>
          <p:cNvSpPr/>
          <p:nvPr/>
        </p:nvSpPr>
        <p:spPr>
          <a:xfrm>
            <a:off x="4681800" y="246888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Arduino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3"/>
          <p:cNvSpPr/>
          <p:nvPr/>
        </p:nvSpPr>
        <p:spPr>
          <a:xfrm>
            <a:off x="4681800" y="31089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Électro-aimants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4"/>
          <p:cNvSpPr/>
          <p:nvPr/>
        </p:nvSpPr>
        <p:spPr>
          <a:xfrm>
            <a:off x="4681800" y="37490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é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q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5"/>
          <p:cNvSpPr/>
          <p:nvPr/>
        </p:nvSpPr>
        <p:spPr>
          <a:xfrm>
            <a:off x="6784920" y="1261800"/>
            <a:ext cx="2010960" cy="3565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6"/>
          <p:cNvSpPr/>
          <p:nvPr/>
        </p:nvSpPr>
        <p:spPr>
          <a:xfrm>
            <a:off x="6784920" y="1261800"/>
            <a:ext cx="2010960" cy="474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7"/>
          <p:cNvSpPr/>
          <p:nvPr/>
        </p:nvSpPr>
        <p:spPr>
          <a:xfrm>
            <a:off x="6784920" y="1261800"/>
            <a:ext cx="2010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Outils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8"/>
          <p:cNvSpPr/>
          <p:nvPr/>
        </p:nvSpPr>
        <p:spPr>
          <a:xfrm>
            <a:off x="6876360" y="182880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GitHub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9"/>
          <p:cNvSpPr/>
          <p:nvPr/>
        </p:nvSpPr>
        <p:spPr>
          <a:xfrm>
            <a:off x="6876360" y="246888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VS Code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0"/>
          <p:cNvSpPr/>
          <p:nvPr/>
        </p:nvSpPr>
        <p:spPr>
          <a:xfrm>
            <a:off x="6876360" y="31089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WAMP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1"/>
          <p:cNvSpPr/>
          <p:nvPr/>
        </p:nvSpPr>
        <p:spPr>
          <a:xfrm>
            <a:off x="6876360" y="37490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▸  arduino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 physique</a:t>
            </a:r>
            <a:endParaRPr lang="fr-F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0" descr="preencoded.png"/>
          <p:cNvPicPr/>
          <p:nvPr/>
        </p:nvPicPr>
        <p:blipFill>
          <a:blip r:embed="rId1"/>
          <a:stretch/>
        </p:blipFill>
        <p:spPr>
          <a:xfrm>
            <a:off x="274320" y="1234440"/>
            <a:ext cx="3656880" cy="365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Shape 4"/>
          <p:cNvSpPr/>
          <p:nvPr/>
        </p:nvSpPr>
        <p:spPr>
          <a:xfrm>
            <a:off x="4206240" y="1261800"/>
            <a:ext cx="4571280" cy="639360"/>
          </a:xfrm>
          <a:prstGeom prst="rect">
            <a:avLst/>
          </a:prstGeom>
          <a:solidFill>
            <a:srgbClr val="102030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4206240" y="1261800"/>
            <a:ext cx="72360" cy="639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4370760" y="1307520"/>
            <a:ext cx="4296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 casiers numérotés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4370760" y="1581840"/>
            <a:ext cx="4296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1 à 4, tailles identiques sur la maquette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4206240" y="2011680"/>
            <a:ext cx="4571280" cy="639360"/>
          </a:xfrm>
          <a:prstGeom prst="rect">
            <a:avLst/>
          </a:prstGeom>
          <a:solidFill>
            <a:srgbClr val="102030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9"/>
          <p:cNvSpPr/>
          <p:nvPr/>
        </p:nvSpPr>
        <p:spPr>
          <a:xfrm>
            <a:off x="4206240" y="2011680"/>
            <a:ext cx="72360" cy="639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0"/>
          <p:cNvSpPr/>
          <p:nvPr/>
        </p:nvSpPr>
        <p:spPr>
          <a:xfrm>
            <a:off x="4370760" y="2057400"/>
            <a:ext cx="4296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Raspberry Pi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1"/>
          <p:cNvSpPr/>
          <p:nvPr/>
        </p:nvSpPr>
        <p:spPr>
          <a:xfrm>
            <a:off x="4370760" y="2331720"/>
            <a:ext cx="4296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Pilotage central, connexion WiFi à l'API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2"/>
          <p:cNvSpPr/>
          <p:nvPr/>
        </p:nvSpPr>
        <p:spPr>
          <a:xfrm>
            <a:off x="4206240" y="2761560"/>
            <a:ext cx="4571280" cy="639360"/>
          </a:xfrm>
          <a:prstGeom prst="rect">
            <a:avLst/>
          </a:prstGeom>
          <a:solidFill>
            <a:srgbClr val="102030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3"/>
          <p:cNvSpPr/>
          <p:nvPr/>
        </p:nvSpPr>
        <p:spPr>
          <a:xfrm>
            <a:off x="4206240" y="2761560"/>
            <a:ext cx="72360" cy="639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4"/>
          <p:cNvSpPr/>
          <p:nvPr/>
        </p:nvSpPr>
        <p:spPr>
          <a:xfrm>
            <a:off x="4370760" y="2807280"/>
            <a:ext cx="4296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Arduino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5"/>
          <p:cNvSpPr/>
          <p:nvPr/>
        </p:nvSpPr>
        <p:spPr>
          <a:xfrm>
            <a:off x="4370760" y="3081600"/>
            <a:ext cx="4296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Gestion des électro-aimants + envoi SMS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6"/>
          <p:cNvSpPr/>
          <p:nvPr/>
        </p:nvSpPr>
        <p:spPr>
          <a:xfrm>
            <a:off x="4206240" y="3511440"/>
            <a:ext cx="4571280" cy="639360"/>
          </a:xfrm>
          <a:prstGeom prst="rect">
            <a:avLst/>
          </a:prstGeom>
          <a:solidFill>
            <a:srgbClr val="102030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7"/>
          <p:cNvSpPr/>
          <p:nvPr/>
        </p:nvSpPr>
        <p:spPr>
          <a:xfrm>
            <a:off x="4206240" y="3511440"/>
            <a:ext cx="72360" cy="639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8"/>
          <p:cNvSpPr/>
          <p:nvPr/>
        </p:nvSpPr>
        <p:spPr>
          <a:xfrm>
            <a:off x="4370760" y="3557160"/>
            <a:ext cx="4296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Capteurs magnétiques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9"/>
          <p:cNvSpPr/>
          <p:nvPr/>
        </p:nvSpPr>
        <p:spPr>
          <a:xfrm>
            <a:off x="4370760" y="3831480"/>
            <a:ext cx="4296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é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q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0"/>
          <p:cNvSpPr/>
          <p:nvPr/>
        </p:nvSpPr>
        <p:spPr>
          <a:xfrm>
            <a:off x="4206240" y="4260960"/>
            <a:ext cx="4571280" cy="639360"/>
          </a:xfrm>
          <a:prstGeom prst="rect">
            <a:avLst/>
          </a:prstGeom>
          <a:solidFill>
            <a:srgbClr val="102030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1"/>
          <p:cNvSpPr/>
          <p:nvPr/>
        </p:nvSpPr>
        <p:spPr>
          <a:xfrm>
            <a:off x="4206240" y="4260960"/>
            <a:ext cx="72360" cy="6393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2"/>
          <p:cNvSpPr/>
          <p:nvPr/>
        </p:nvSpPr>
        <p:spPr>
          <a:xfrm>
            <a:off x="4370760" y="4306680"/>
            <a:ext cx="4296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Alimentation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3"/>
          <p:cNvSpPr/>
          <p:nvPr/>
        </p:nvSpPr>
        <p:spPr>
          <a:xfrm>
            <a:off x="4370760" y="4581000"/>
            <a:ext cx="4296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Via le casier central (casier technique)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B4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"/>
          <p:cNvSpPr/>
          <p:nvPr/>
        </p:nvSpPr>
        <p:spPr>
          <a:xfrm>
            <a:off x="164520" y="0"/>
            <a:ext cx="8978760" cy="514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365760" y="822960"/>
            <a:ext cx="182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365760" y="16002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 partie</a:t>
            </a:r>
            <a:endParaRPr lang="fr-F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365760" y="224028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Sit</a:t>
            </a:r>
            <a:r>
              <a:rPr lang="en-US" sz="48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48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48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eb </a:t>
            </a:r>
            <a:r>
              <a:rPr lang="en-US" sz="48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Re</a:t>
            </a:r>
            <a:r>
              <a:rPr lang="en-US" sz="48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ac</a:t>
            </a:r>
            <a:r>
              <a:rPr lang="en-US" sz="48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6"/>
          <p:cNvSpPr/>
          <p:nvPr/>
        </p:nvSpPr>
        <p:spPr>
          <a:xfrm>
            <a:off x="365760" y="3154680"/>
            <a:ext cx="4572000" cy="360"/>
          </a:xfrm>
          <a:prstGeom prst="line">
            <a:avLst/>
          </a:prstGeom>
          <a:ln w="254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365760" y="33375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BDD9"/>
                </a:solidFill>
                <a:effectLst/>
                <a:uFillTx/>
                <a:latin typeface="Calibri"/>
                <a:ea typeface="Calibri"/>
              </a:rPr>
              <a:t>Développement frontend — React (Vite) · CSS custom · Fetch API · Leaflet.js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Architecture du code — React (Vite)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4"/>
          <p:cNvSpPr/>
          <p:nvPr/>
        </p:nvSpPr>
        <p:spPr>
          <a:xfrm>
            <a:off x="201240" y="1261800"/>
            <a:ext cx="5028480" cy="3565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320040" y="137160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B4D8"/>
                </a:solidFill>
                <a:effectLst/>
                <a:uFillTx/>
                <a:latin typeface="Consolas"/>
                <a:ea typeface="Consolas"/>
              </a:rPr>
              <a:t>App.jsx  —  Routeur principal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320040" y="182880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[page, setPage] = useState('home')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320040" y="207576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[isLoggedIn, setIsLoggedIn] = useState(...)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8"/>
          <p:cNvSpPr/>
          <p:nvPr/>
        </p:nvSpPr>
        <p:spPr>
          <a:xfrm>
            <a:off x="320040" y="232272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[isLivreur, setIsLivreur] = useState(...)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9"/>
          <p:cNvSpPr/>
          <p:nvPr/>
        </p:nvSpPr>
        <p:spPr>
          <a:xfrm>
            <a:off x="320040" y="256932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8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 10"/>
          <p:cNvSpPr/>
          <p:nvPr/>
        </p:nvSpPr>
        <p:spPr>
          <a:xfrm>
            <a:off x="320040" y="281628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Navigation par état — pas de React Router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320040" y="306324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if (page === 'login')  → &lt;Login /&gt;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320040" y="331020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if (page === 'register') → &lt;Register /&gt;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3"/>
          <p:cNvSpPr/>
          <p:nvPr/>
        </p:nvSpPr>
        <p:spPr>
          <a:xfrm>
            <a:off x="320040" y="355716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if (page === 'track')   → &lt;Track /&gt;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4"/>
          <p:cNvSpPr/>
          <p:nvPr/>
        </p:nvSpPr>
        <p:spPr>
          <a:xfrm>
            <a:off x="320040" y="380376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if (page === 'createColis') → &lt;CreateColis /&gt;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5"/>
          <p:cNvSpPr/>
          <p:nvPr/>
        </p:nvSpPr>
        <p:spPr>
          <a:xfrm>
            <a:off x="320040" y="405072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if (page === 'account') → &lt;Account /&gt;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320040" y="4297680"/>
            <a:ext cx="47541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if (page === 'livreur') → &lt;LivreurPage /&gt;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7"/>
          <p:cNvSpPr/>
          <p:nvPr/>
        </p:nvSpPr>
        <p:spPr>
          <a:xfrm>
            <a:off x="5486400" y="1371600"/>
            <a:ext cx="3291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Pages / </a:t>
            </a: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Composant</a:t>
            </a: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8"/>
          <p:cNvSpPr/>
          <p:nvPr/>
        </p:nvSpPr>
        <p:spPr>
          <a:xfrm>
            <a:off x="5394960" y="1828800"/>
            <a:ext cx="3474000" cy="438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9"/>
          <p:cNvSpPr/>
          <p:nvPr/>
        </p:nvSpPr>
        <p:spPr>
          <a:xfrm>
            <a:off x="5394960" y="1828800"/>
            <a:ext cx="54000" cy="4381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0"/>
          <p:cNvSpPr/>
          <p:nvPr/>
        </p:nvSpPr>
        <p:spPr>
          <a:xfrm>
            <a:off x="5541120" y="1865520"/>
            <a:ext cx="319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Login.jsx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1"/>
          <p:cNvSpPr/>
          <p:nvPr/>
        </p:nvSpPr>
        <p:spPr>
          <a:xfrm>
            <a:off x="5541120" y="2057400"/>
            <a:ext cx="3199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Connexion + localStorage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2"/>
          <p:cNvSpPr/>
          <p:nvPr/>
        </p:nvSpPr>
        <p:spPr>
          <a:xfrm>
            <a:off x="5394960" y="2359080"/>
            <a:ext cx="3474000" cy="438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3"/>
          <p:cNvSpPr/>
          <p:nvPr/>
        </p:nvSpPr>
        <p:spPr>
          <a:xfrm>
            <a:off x="5394960" y="2359080"/>
            <a:ext cx="54000" cy="4381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4"/>
          <p:cNvSpPr/>
          <p:nvPr/>
        </p:nvSpPr>
        <p:spPr>
          <a:xfrm>
            <a:off x="5541120" y="2395800"/>
            <a:ext cx="319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Register.jsx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5"/>
          <p:cNvSpPr/>
          <p:nvPr/>
        </p:nvSpPr>
        <p:spPr>
          <a:xfrm>
            <a:off x="5541120" y="2587680"/>
            <a:ext cx="3199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Création compte + validation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6"/>
          <p:cNvSpPr/>
          <p:nvPr/>
        </p:nvSpPr>
        <p:spPr>
          <a:xfrm>
            <a:off x="5394960" y="2889360"/>
            <a:ext cx="3474000" cy="438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7"/>
          <p:cNvSpPr/>
          <p:nvPr/>
        </p:nvSpPr>
        <p:spPr>
          <a:xfrm>
            <a:off x="5394960" y="2889360"/>
            <a:ext cx="54000" cy="438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8"/>
          <p:cNvSpPr/>
          <p:nvPr/>
        </p:nvSpPr>
        <p:spPr>
          <a:xfrm>
            <a:off x="5541120" y="2926080"/>
            <a:ext cx="319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CreateColis.jsx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9"/>
          <p:cNvSpPr/>
          <p:nvPr/>
        </p:nvSpPr>
        <p:spPr>
          <a:xfrm>
            <a:off x="5541120" y="3117960"/>
            <a:ext cx="3199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Formulaire colis + Leaflet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0"/>
          <p:cNvSpPr/>
          <p:nvPr/>
        </p:nvSpPr>
        <p:spPr>
          <a:xfrm>
            <a:off x="5394960" y="3420000"/>
            <a:ext cx="3474000" cy="438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1"/>
          <p:cNvSpPr/>
          <p:nvPr/>
        </p:nvSpPr>
        <p:spPr>
          <a:xfrm>
            <a:off x="5394960" y="3420000"/>
            <a:ext cx="54000" cy="438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2"/>
          <p:cNvSpPr/>
          <p:nvPr/>
        </p:nvSpPr>
        <p:spPr>
          <a:xfrm>
            <a:off x="5541120" y="3456360"/>
            <a:ext cx="319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Track.jsx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3"/>
          <p:cNvSpPr/>
          <p:nvPr/>
        </p:nvSpPr>
        <p:spPr>
          <a:xfrm>
            <a:off x="5541120" y="3648600"/>
            <a:ext cx="3199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Suivi sans connexion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4"/>
          <p:cNvSpPr/>
          <p:nvPr/>
        </p:nvSpPr>
        <p:spPr>
          <a:xfrm>
            <a:off x="5394960" y="3950280"/>
            <a:ext cx="3474000" cy="438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5"/>
          <p:cNvSpPr/>
          <p:nvPr/>
        </p:nvSpPr>
        <p:spPr>
          <a:xfrm>
            <a:off x="5394960" y="3950280"/>
            <a:ext cx="54000" cy="438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6"/>
          <p:cNvSpPr/>
          <p:nvPr/>
        </p:nvSpPr>
        <p:spPr>
          <a:xfrm>
            <a:off x="5541120" y="3986640"/>
            <a:ext cx="319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LivreurPage.jsx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7"/>
          <p:cNvSpPr/>
          <p:nvPr/>
        </p:nvSpPr>
        <p:spPr>
          <a:xfrm>
            <a:off x="5541120" y="4178880"/>
            <a:ext cx="3199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Espace livreur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8"/>
          <p:cNvSpPr/>
          <p:nvPr/>
        </p:nvSpPr>
        <p:spPr>
          <a:xfrm>
            <a:off x="5394960" y="4480560"/>
            <a:ext cx="3474000" cy="438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9"/>
          <p:cNvSpPr/>
          <p:nvPr/>
        </p:nvSpPr>
        <p:spPr>
          <a:xfrm>
            <a:off x="5394960" y="4480560"/>
            <a:ext cx="54000" cy="438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0"/>
          <p:cNvSpPr/>
          <p:nvPr/>
        </p:nvSpPr>
        <p:spPr>
          <a:xfrm>
            <a:off x="5541120" y="4517280"/>
            <a:ext cx="3199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Account.jsx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1"/>
          <p:cNvSpPr/>
          <p:nvPr/>
        </p:nvSpPr>
        <p:spPr>
          <a:xfrm>
            <a:off x="5541120" y="4709160"/>
            <a:ext cx="3199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Infos compte + colis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Gestion de l'état &amp; authentification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4"/>
          <p:cNvSpPr/>
          <p:nvPr/>
        </p:nvSpPr>
        <p:spPr>
          <a:xfrm>
            <a:off x="201240" y="1261800"/>
            <a:ext cx="4205520" cy="3565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320040" y="137160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B6CA8"/>
                </a:solidFill>
                <a:effectLst/>
                <a:uFillTx/>
                <a:latin typeface="Consolas"/>
                <a:ea typeface="Consolas"/>
              </a:rPr>
              <a:t>Authentification — localStorage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6"/>
          <p:cNvSpPr/>
          <p:nvPr/>
        </p:nvSpPr>
        <p:spPr>
          <a:xfrm>
            <a:off x="320040" y="182880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Connexion — Login.jsx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7"/>
          <p:cNvSpPr/>
          <p:nvPr/>
        </p:nvSpPr>
        <p:spPr>
          <a:xfrm>
            <a:off x="320040" y="201168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localStorage.setItem('user', email)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8"/>
          <p:cNvSpPr/>
          <p:nvPr/>
        </p:nvSpPr>
        <p:spPr>
          <a:xfrm>
            <a:off x="320040" y="219456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localStorage.setItem('type', 'livreur')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9"/>
          <p:cNvSpPr/>
          <p:nvPr/>
        </p:nvSpPr>
        <p:spPr>
          <a:xfrm>
            <a:off x="320040" y="237744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setIsLoggedIn(true)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0"/>
          <p:cNvSpPr/>
          <p:nvPr/>
        </p:nvSpPr>
        <p:spPr>
          <a:xfrm>
            <a:off x="320040" y="256032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setIsLivreur(true)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1"/>
          <p:cNvSpPr/>
          <p:nvPr/>
        </p:nvSpPr>
        <p:spPr>
          <a:xfrm>
            <a:off x="320040" y="274320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setPage('home')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2"/>
          <p:cNvSpPr/>
          <p:nvPr/>
        </p:nvSpPr>
        <p:spPr>
          <a:xfrm>
            <a:off x="320040" y="292608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 13"/>
          <p:cNvSpPr/>
          <p:nvPr/>
        </p:nvSpPr>
        <p:spPr>
          <a:xfrm>
            <a:off x="320040" y="310896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Déconnexion — App.jsx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4"/>
          <p:cNvSpPr/>
          <p:nvPr/>
        </p:nvSpPr>
        <p:spPr>
          <a:xfrm>
            <a:off x="320040" y="329184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localStorage.removeItem('user')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5"/>
          <p:cNvSpPr/>
          <p:nvPr/>
        </p:nvSpPr>
        <p:spPr>
          <a:xfrm>
            <a:off x="320040" y="347472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localStorage.removeItem('type')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6"/>
          <p:cNvSpPr/>
          <p:nvPr/>
        </p:nvSpPr>
        <p:spPr>
          <a:xfrm>
            <a:off x="320040" y="365760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setIsLoggedIn(false)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7"/>
          <p:cNvSpPr/>
          <p:nvPr/>
        </p:nvSpPr>
        <p:spPr>
          <a:xfrm>
            <a:off x="320040" y="384048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setIsLivreur(false)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8"/>
          <p:cNvSpPr/>
          <p:nvPr/>
        </p:nvSpPr>
        <p:spPr>
          <a:xfrm>
            <a:off x="320040" y="402336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alert('Déconnecté')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9"/>
          <p:cNvSpPr/>
          <p:nvPr/>
        </p:nvSpPr>
        <p:spPr>
          <a:xfrm>
            <a:off x="320040" y="420624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 20"/>
          <p:cNvSpPr/>
          <p:nvPr/>
        </p:nvSpPr>
        <p:spPr>
          <a:xfrm>
            <a:off x="320040" y="438912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Persistance au rechargement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1"/>
          <p:cNvSpPr/>
          <p:nvPr/>
        </p:nvSpPr>
        <p:spPr>
          <a:xfrm>
            <a:off x="320040" y="457200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useState(localStorage.getItem('user')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2"/>
          <p:cNvSpPr/>
          <p:nvPr/>
        </p:nvSpPr>
        <p:spPr>
          <a:xfrm>
            <a:off x="320040" y="4754880"/>
            <a:ext cx="393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? true : false)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3"/>
          <p:cNvSpPr/>
          <p:nvPr/>
        </p:nvSpPr>
        <p:spPr>
          <a:xfrm>
            <a:off x="4663440" y="1371600"/>
            <a:ext cx="4114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Validation des formulaires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4"/>
          <p:cNvSpPr/>
          <p:nvPr/>
        </p:nvSpPr>
        <p:spPr>
          <a:xfrm>
            <a:off x="4663440" y="1828800"/>
            <a:ext cx="415980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5"/>
          <p:cNvSpPr/>
          <p:nvPr/>
        </p:nvSpPr>
        <p:spPr>
          <a:xfrm>
            <a:off x="4736520" y="1911240"/>
            <a:ext cx="273600" cy="273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6"/>
          <p:cNvSpPr/>
          <p:nvPr/>
        </p:nvSpPr>
        <p:spPr>
          <a:xfrm>
            <a:off x="5120640" y="186552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Email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7"/>
          <p:cNvSpPr/>
          <p:nvPr/>
        </p:nvSpPr>
        <p:spPr>
          <a:xfrm>
            <a:off x="5120640" y="2066400"/>
            <a:ext cx="35654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Format valide (regex)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8"/>
          <p:cNvSpPr/>
          <p:nvPr/>
        </p:nvSpPr>
        <p:spPr>
          <a:xfrm>
            <a:off x="4663440" y="2395800"/>
            <a:ext cx="415980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9"/>
          <p:cNvSpPr/>
          <p:nvPr/>
        </p:nvSpPr>
        <p:spPr>
          <a:xfrm>
            <a:off x="4736520" y="2477880"/>
            <a:ext cx="273600" cy="273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0"/>
          <p:cNvSpPr/>
          <p:nvPr/>
        </p:nvSpPr>
        <p:spPr>
          <a:xfrm>
            <a:off x="5120640" y="243216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Téléphone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1"/>
          <p:cNvSpPr/>
          <p:nvPr/>
        </p:nvSpPr>
        <p:spPr>
          <a:xfrm>
            <a:off x="5120640" y="2633400"/>
            <a:ext cx="35654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Exactement 10 chiffres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32"/>
          <p:cNvSpPr/>
          <p:nvPr/>
        </p:nvSpPr>
        <p:spPr>
          <a:xfrm>
            <a:off x="4663440" y="2962800"/>
            <a:ext cx="415980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33"/>
          <p:cNvSpPr/>
          <p:nvPr/>
        </p:nvSpPr>
        <p:spPr>
          <a:xfrm>
            <a:off x="4736520" y="3044880"/>
            <a:ext cx="273600" cy="273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4"/>
          <p:cNvSpPr/>
          <p:nvPr/>
        </p:nvSpPr>
        <p:spPr>
          <a:xfrm>
            <a:off x="5120640" y="299916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Mot de passe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5"/>
          <p:cNvSpPr/>
          <p:nvPr/>
        </p:nvSpPr>
        <p:spPr>
          <a:xfrm>
            <a:off x="5120640" y="3200400"/>
            <a:ext cx="35654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Longueur minimale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36"/>
          <p:cNvSpPr/>
          <p:nvPr/>
        </p:nvSpPr>
        <p:spPr>
          <a:xfrm>
            <a:off x="4663440" y="3529440"/>
            <a:ext cx="415980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7"/>
          <p:cNvSpPr/>
          <p:nvPr/>
        </p:nvSpPr>
        <p:spPr>
          <a:xfrm>
            <a:off x="4736520" y="3611880"/>
            <a:ext cx="273600" cy="273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8"/>
          <p:cNvSpPr/>
          <p:nvPr/>
        </p:nvSpPr>
        <p:spPr>
          <a:xfrm>
            <a:off x="5120640" y="356616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Dimensions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9"/>
          <p:cNvSpPr/>
          <p:nvPr/>
        </p:nvSpPr>
        <p:spPr>
          <a:xfrm>
            <a:off x="5120640" y="3767400"/>
            <a:ext cx="35654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Valeurs numériques &gt; 0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40"/>
          <p:cNvSpPr/>
          <p:nvPr/>
        </p:nvSpPr>
        <p:spPr>
          <a:xfrm>
            <a:off x="4663440" y="4096440"/>
            <a:ext cx="415980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41"/>
          <p:cNvSpPr/>
          <p:nvPr/>
        </p:nvSpPr>
        <p:spPr>
          <a:xfrm>
            <a:off x="4736520" y="4178880"/>
            <a:ext cx="273600" cy="273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42"/>
          <p:cNvSpPr/>
          <p:nvPr/>
        </p:nvSpPr>
        <p:spPr>
          <a:xfrm>
            <a:off x="5120640" y="413316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Erreurs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43"/>
          <p:cNvSpPr/>
          <p:nvPr/>
        </p:nvSpPr>
        <p:spPr>
          <a:xfrm>
            <a:off x="5120640" y="4334400"/>
            <a:ext cx="35654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Affichage en rouge (msgErreur)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44"/>
          <p:cNvSpPr/>
          <p:nvPr/>
        </p:nvSpPr>
        <p:spPr>
          <a:xfrm>
            <a:off x="4663440" y="4663440"/>
            <a:ext cx="415980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45"/>
          <p:cNvSpPr/>
          <p:nvPr/>
        </p:nvSpPr>
        <p:spPr>
          <a:xfrm>
            <a:off x="4736520" y="4745880"/>
            <a:ext cx="273600" cy="2736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46"/>
          <p:cNvSpPr/>
          <p:nvPr/>
        </p:nvSpPr>
        <p:spPr>
          <a:xfrm>
            <a:off x="5120640" y="4700160"/>
            <a:ext cx="3565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Locker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47"/>
          <p:cNvSpPr/>
          <p:nvPr/>
        </p:nvSpPr>
        <p:spPr>
          <a:xfrm>
            <a:off x="5120640" y="4901040"/>
            <a:ext cx="35654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Sélection obligatoire sur la carte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Fetch API — Communication avec le backend PHP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4"/>
          <p:cNvSpPr/>
          <p:nvPr/>
        </p:nvSpPr>
        <p:spPr>
          <a:xfrm>
            <a:off x="201240" y="1261800"/>
            <a:ext cx="5211360" cy="3565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320040" y="137160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onsolas"/>
                <a:ea typeface="Consolas"/>
              </a:rPr>
              <a:t>Exemple — CreateColis.jsx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320040" y="181044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const handleSubmit = async () =&gt; {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320040" y="198432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const res = await fetch(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320040" y="215784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   'http://localhost/api/colis.php',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320040" y="233172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 { method: 'POST',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320040" y="250560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   headers: { 'Content-Type':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320040" y="267912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       'application/json' },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320040" y="285300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   body: JSON.stringify({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320040" y="302652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     longueur, largeur, hauteur,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4"/>
          <p:cNvSpPr/>
          <p:nvPr/>
        </p:nvSpPr>
        <p:spPr>
          <a:xfrm>
            <a:off x="320040" y="320040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     destinataire, user,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5"/>
          <p:cNvSpPr/>
          <p:nvPr/>
        </p:nvSpPr>
        <p:spPr>
          <a:xfrm>
            <a:off x="320040" y="337428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     lockerId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6"/>
          <p:cNvSpPr/>
          <p:nvPr/>
        </p:nvSpPr>
        <p:spPr>
          <a:xfrm>
            <a:off x="320040" y="354780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   })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7"/>
          <p:cNvSpPr/>
          <p:nvPr/>
        </p:nvSpPr>
        <p:spPr>
          <a:xfrm>
            <a:off x="320040" y="372168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 }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8"/>
          <p:cNvSpPr/>
          <p:nvPr/>
        </p:nvSpPr>
        <p:spPr>
          <a:xfrm>
            <a:off x="320040" y="389520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9"/>
          <p:cNvSpPr/>
          <p:nvPr/>
        </p:nvSpPr>
        <p:spPr>
          <a:xfrm>
            <a:off x="320040" y="406908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const data = await res.json()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0"/>
          <p:cNvSpPr/>
          <p:nvPr/>
        </p:nvSpPr>
        <p:spPr>
          <a:xfrm>
            <a:off x="320040" y="424296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if (data.success) {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1"/>
          <p:cNvSpPr/>
          <p:nvPr/>
        </p:nvSpPr>
        <p:spPr>
          <a:xfrm>
            <a:off x="320040" y="441648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  alert('Colis créé !')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2"/>
          <p:cNvSpPr/>
          <p:nvPr/>
        </p:nvSpPr>
        <p:spPr>
          <a:xfrm>
            <a:off x="320040" y="459036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  goBack()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3"/>
          <p:cNvSpPr/>
          <p:nvPr/>
        </p:nvSpPr>
        <p:spPr>
          <a:xfrm>
            <a:off x="320040" y="476388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4"/>
          <p:cNvSpPr/>
          <p:nvPr/>
        </p:nvSpPr>
        <p:spPr>
          <a:xfrm>
            <a:off x="320040" y="4937760"/>
            <a:ext cx="4937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5"/>
          <p:cNvSpPr/>
          <p:nvPr/>
        </p:nvSpPr>
        <p:spPr>
          <a:xfrm>
            <a:off x="5669280" y="137160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Endpoints utilisés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6"/>
          <p:cNvSpPr/>
          <p:nvPr/>
        </p:nvSpPr>
        <p:spPr>
          <a:xfrm>
            <a:off x="5669280" y="1810440"/>
            <a:ext cx="3153960" cy="383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7"/>
          <p:cNvSpPr/>
          <p:nvPr/>
        </p:nvSpPr>
        <p:spPr>
          <a:xfrm>
            <a:off x="5669280" y="1810440"/>
            <a:ext cx="502200" cy="3834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8"/>
          <p:cNvSpPr/>
          <p:nvPr/>
        </p:nvSpPr>
        <p:spPr>
          <a:xfrm>
            <a:off x="5669280" y="181044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POST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9"/>
          <p:cNvSpPr/>
          <p:nvPr/>
        </p:nvSpPr>
        <p:spPr>
          <a:xfrm>
            <a:off x="6236280" y="1837800"/>
            <a:ext cx="24681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user.php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0"/>
          <p:cNvSpPr/>
          <p:nvPr/>
        </p:nvSpPr>
        <p:spPr>
          <a:xfrm>
            <a:off x="6236280" y="2011680"/>
            <a:ext cx="24681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Inscription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1"/>
          <p:cNvSpPr/>
          <p:nvPr/>
        </p:nvSpPr>
        <p:spPr>
          <a:xfrm>
            <a:off x="5669280" y="2267640"/>
            <a:ext cx="3153960" cy="383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2"/>
          <p:cNvSpPr/>
          <p:nvPr/>
        </p:nvSpPr>
        <p:spPr>
          <a:xfrm>
            <a:off x="5669280" y="2267640"/>
            <a:ext cx="502200" cy="3834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3"/>
          <p:cNvSpPr/>
          <p:nvPr/>
        </p:nvSpPr>
        <p:spPr>
          <a:xfrm>
            <a:off x="5669280" y="226764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POST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4"/>
          <p:cNvSpPr/>
          <p:nvPr/>
        </p:nvSpPr>
        <p:spPr>
          <a:xfrm>
            <a:off x="6236280" y="2295000"/>
            <a:ext cx="24681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user.php?action=login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35"/>
          <p:cNvSpPr/>
          <p:nvPr/>
        </p:nvSpPr>
        <p:spPr>
          <a:xfrm>
            <a:off x="6236280" y="2468880"/>
            <a:ext cx="24681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Connexion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36"/>
          <p:cNvSpPr/>
          <p:nvPr/>
        </p:nvSpPr>
        <p:spPr>
          <a:xfrm>
            <a:off x="5669280" y="2724840"/>
            <a:ext cx="3153960" cy="383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37"/>
          <p:cNvSpPr/>
          <p:nvPr/>
        </p:nvSpPr>
        <p:spPr>
          <a:xfrm>
            <a:off x="5669280" y="2724840"/>
            <a:ext cx="502200" cy="383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8"/>
          <p:cNvSpPr/>
          <p:nvPr/>
        </p:nvSpPr>
        <p:spPr>
          <a:xfrm>
            <a:off x="5669280" y="272484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POST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9"/>
          <p:cNvSpPr/>
          <p:nvPr/>
        </p:nvSpPr>
        <p:spPr>
          <a:xfrm>
            <a:off x="6236280" y="2752200"/>
            <a:ext cx="24681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colis.php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40"/>
          <p:cNvSpPr/>
          <p:nvPr/>
        </p:nvSpPr>
        <p:spPr>
          <a:xfrm>
            <a:off x="6236280" y="2926080"/>
            <a:ext cx="24681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Créer colis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41"/>
          <p:cNvSpPr/>
          <p:nvPr/>
        </p:nvSpPr>
        <p:spPr>
          <a:xfrm>
            <a:off x="5669280" y="3182040"/>
            <a:ext cx="3153960" cy="383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42"/>
          <p:cNvSpPr/>
          <p:nvPr/>
        </p:nvSpPr>
        <p:spPr>
          <a:xfrm>
            <a:off x="5669280" y="3182040"/>
            <a:ext cx="502200" cy="383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43"/>
          <p:cNvSpPr/>
          <p:nvPr/>
        </p:nvSpPr>
        <p:spPr>
          <a:xfrm>
            <a:off x="5669280" y="318204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GET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4"/>
          <p:cNvSpPr/>
          <p:nvPr/>
        </p:nvSpPr>
        <p:spPr>
          <a:xfrm>
            <a:off x="6236280" y="3209400"/>
            <a:ext cx="24681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colis.php?track=XXX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45"/>
          <p:cNvSpPr/>
          <p:nvPr/>
        </p:nvSpPr>
        <p:spPr>
          <a:xfrm>
            <a:off x="6236280" y="3383280"/>
            <a:ext cx="24681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Suivi colis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6"/>
          <p:cNvSpPr/>
          <p:nvPr/>
        </p:nvSpPr>
        <p:spPr>
          <a:xfrm>
            <a:off x="5669280" y="3639240"/>
            <a:ext cx="3153960" cy="383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7"/>
          <p:cNvSpPr/>
          <p:nvPr/>
        </p:nvSpPr>
        <p:spPr>
          <a:xfrm>
            <a:off x="5669280" y="3639240"/>
            <a:ext cx="502200" cy="383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8"/>
          <p:cNvSpPr/>
          <p:nvPr/>
        </p:nvSpPr>
        <p:spPr>
          <a:xfrm>
            <a:off x="5669280" y="363924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GET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49"/>
          <p:cNvSpPr/>
          <p:nvPr/>
        </p:nvSpPr>
        <p:spPr>
          <a:xfrm>
            <a:off x="6236280" y="3666600"/>
            <a:ext cx="24681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colis.php?user=ID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50"/>
          <p:cNvSpPr/>
          <p:nvPr/>
        </p:nvSpPr>
        <p:spPr>
          <a:xfrm>
            <a:off x="6236280" y="3840480"/>
            <a:ext cx="24681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Mes colis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51"/>
          <p:cNvSpPr/>
          <p:nvPr/>
        </p:nvSpPr>
        <p:spPr>
          <a:xfrm>
            <a:off x="5669280" y="4096440"/>
            <a:ext cx="3153960" cy="383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52"/>
          <p:cNvSpPr/>
          <p:nvPr/>
        </p:nvSpPr>
        <p:spPr>
          <a:xfrm>
            <a:off x="5669280" y="4096440"/>
            <a:ext cx="502200" cy="383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53"/>
          <p:cNvSpPr/>
          <p:nvPr/>
        </p:nvSpPr>
        <p:spPr>
          <a:xfrm>
            <a:off x="5669280" y="409644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GET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54"/>
          <p:cNvSpPr/>
          <p:nvPr/>
        </p:nvSpPr>
        <p:spPr>
          <a:xfrm>
            <a:off x="6236280" y="4123800"/>
            <a:ext cx="24681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account.php?id=ID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55"/>
          <p:cNvSpPr/>
          <p:nvPr/>
        </p:nvSpPr>
        <p:spPr>
          <a:xfrm>
            <a:off x="6236280" y="4297680"/>
            <a:ext cx="24681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Mon compte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56"/>
          <p:cNvSpPr/>
          <p:nvPr/>
        </p:nvSpPr>
        <p:spPr>
          <a:xfrm>
            <a:off x="5669280" y="4553640"/>
            <a:ext cx="3153960" cy="383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57"/>
          <p:cNvSpPr/>
          <p:nvPr/>
        </p:nvSpPr>
        <p:spPr>
          <a:xfrm>
            <a:off x="5669280" y="4553640"/>
            <a:ext cx="502200" cy="383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58"/>
          <p:cNvSpPr/>
          <p:nvPr/>
        </p:nvSpPr>
        <p:spPr>
          <a:xfrm>
            <a:off x="5669280" y="455364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POST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59"/>
          <p:cNvSpPr/>
          <p:nvPr/>
        </p:nvSpPr>
        <p:spPr>
          <a:xfrm>
            <a:off x="6236280" y="4581000"/>
            <a:ext cx="24681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user.php?action=updateDispo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60"/>
          <p:cNvSpPr/>
          <p:nvPr/>
        </p:nvSpPr>
        <p:spPr>
          <a:xfrm>
            <a:off x="6236280" y="4754880"/>
            <a:ext cx="24681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Dispo livreur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Login.jsx — Connexion utilisateur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4"/>
          <p:cNvSpPr/>
          <p:nvPr/>
        </p:nvSpPr>
        <p:spPr>
          <a:xfrm>
            <a:off x="6217920" y="274320"/>
            <a:ext cx="2651040" cy="3466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6217920" y="274320"/>
            <a:ext cx="2651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Login.jsx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6"/>
          <p:cNvSpPr/>
          <p:nvPr/>
        </p:nvSpPr>
        <p:spPr>
          <a:xfrm>
            <a:off x="201240" y="1261800"/>
            <a:ext cx="5211360" cy="3565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7"/>
          <p:cNvSpPr/>
          <p:nvPr/>
        </p:nvSpPr>
        <p:spPr>
          <a:xfrm>
            <a:off x="292680" y="13716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Validation email avec regex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8"/>
          <p:cNvSpPr/>
          <p:nvPr/>
        </p:nvSpPr>
        <p:spPr>
          <a:xfrm>
            <a:off x="292680" y="15544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emailValide = (val) =&gt; {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292680" y="17373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const regex = /^[^\s@]+@[^\s@]+\.[^\s@]+$/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0"/>
          <p:cNvSpPr/>
          <p:nvPr/>
        </p:nvSpPr>
        <p:spPr>
          <a:xfrm>
            <a:off x="292680" y="19202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return regex.test(val)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1"/>
          <p:cNvSpPr/>
          <p:nvPr/>
        </p:nvSpPr>
        <p:spPr>
          <a:xfrm>
            <a:off x="292680" y="21031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2"/>
          <p:cNvSpPr/>
          <p:nvPr/>
        </p:nvSpPr>
        <p:spPr>
          <a:xfrm>
            <a:off x="292680" y="22860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 13"/>
          <p:cNvSpPr/>
          <p:nvPr/>
        </p:nvSpPr>
        <p:spPr>
          <a:xfrm>
            <a:off x="292680" y="24688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handleLogin — POST fetch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4"/>
          <p:cNvSpPr/>
          <p:nvPr/>
        </p:nvSpPr>
        <p:spPr>
          <a:xfrm>
            <a:off x="292680" y="26517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res = await fetch('http://.../login', {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292680" y="28346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method: 'POST',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6"/>
          <p:cNvSpPr/>
          <p:nvPr/>
        </p:nvSpPr>
        <p:spPr>
          <a:xfrm>
            <a:off x="292680" y="30175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body: JSON.stringify({ email, password })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7"/>
          <p:cNvSpPr/>
          <p:nvPr/>
        </p:nvSpPr>
        <p:spPr>
          <a:xfrm>
            <a:off x="292680" y="32004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})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8"/>
          <p:cNvSpPr/>
          <p:nvPr/>
        </p:nvSpPr>
        <p:spPr>
          <a:xfrm>
            <a:off x="292680" y="33832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</a:t>
            </a: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data </a:t>
            </a: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= </a:t>
            </a: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await </a:t>
            </a: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res.j</a:t>
            </a: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son()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9"/>
          <p:cNvSpPr/>
          <p:nvPr/>
        </p:nvSpPr>
        <p:spPr>
          <a:xfrm>
            <a:off x="292680" y="35661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 20"/>
          <p:cNvSpPr/>
          <p:nvPr/>
        </p:nvSpPr>
        <p:spPr>
          <a:xfrm>
            <a:off x="292680" y="37490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Si succès → stockage + navigation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1"/>
          <p:cNvSpPr/>
          <p:nvPr/>
        </p:nvSpPr>
        <p:spPr>
          <a:xfrm>
            <a:off x="292680" y="39319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localStorage.setItem('user', </a:t>
            </a: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JSON.stringify(data.user))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2"/>
          <p:cNvSpPr/>
          <p:nvPr/>
        </p:nvSpPr>
        <p:spPr>
          <a:xfrm>
            <a:off x="292680" y="41148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localStorage.setItem('type', data.type)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3"/>
          <p:cNvSpPr/>
          <p:nvPr/>
        </p:nvSpPr>
        <p:spPr>
          <a:xfrm>
            <a:off x="292680" y="42976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setIsLoggedIn(true)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4"/>
          <p:cNvSpPr/>
          <p:nvPr/>
        </p:nvSpPr>
        <p:spPr>
          <a:xfrm>
            <a:off x="292680" y="44805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if (data.type === 'livreur') setIsLivreur(true)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5"/>
          <p:cNvSpPr/>
          <p:nvPr/>
        </p:nvSpPr>
        <p:spPr>
          <a:xfrm>
            <a:off x="292680" y="46634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setPage('home')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6"/>
          <p:cNvSpPr/>
          <p:nvPr/>
        </p:nvSpPr>
        <p:spPr>
          <a:xfrm>
            <a:off x="5577840" y="137160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Points clés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7"/>
          <p:cNvSpPr/>
          <p:nvPr/>
        </p:nvSpPr>
        <p:spPr>
          <a:xfrm>
            <a:off x="5577840" y="1828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8"/>
          <p:cNvSpPr/>
          <p:nvPr/>
        </p:nvSpPr>
        <p:spPr>
          <a:xfrm>
            <a:off x="5577840" y="1828800"/>
            <a:ext cx="54000" cy="456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9"/>
          <p:cNvSpPr/>
          <p:nvPr/>
        </p:nvSpPr>
        <p:spPr>
          <a:xfrm>
            <a:off x="5706000" y="186552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Validation email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0"/>
          <p:cNvSpPr/>
          <p:nvPr/>
        </p:nvSpPr>
        <p:spPr>
          <a:xfrm>
            <a:off x="5706000" y="2066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Regex avant l'envoi au serveur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31"/>
          <p:cNvSpPr/>
          <p:nvPr/>
        </p:nvSpPr>
        <p:spPr>
          <a:xfrm>
            <a:off x="5577840" y="2395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32"/>
          <p:cNvSpPr/>
          <p:nvPr/>
        </p:nvSpPr>
        <p:spPr>
          <a:xfrm>
            <a:off x="5577840" y="2395800"/>
            <a:ext cx="54000" cy="456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3"/>
          <p:cNvSpPr/>
          <p:nvPr/>
        </p:nvSpPr>
        <p:spPr>
          <a:xfrm>
            <a:off x="5706000" y="2432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Fetch POST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4"/>
          <p:cNvSpPr/>
          <p:nvPr/>
        </p:nvSpPr>
        <p:spPr>
          <a:xfrm>
            <a:off x="5706000" y="2633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JSON vers http://.../login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5"/>
          <p:cNvSpPr/>
          <p:nvPr/>
        </p:nvSpPr>
        <p:spPr>
          <a:xfrm>
            <a:off x="5577840" y="2962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6"/>
          <p:cNvSpPr/>
          <p:nvPr/>
        </p:nvSpPr>
        <p:spPr>
          <a:xfrm>
            <a:off x="5577840" y="2962800"/>
            <a:ext cx="54000" cy="456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7"/>
          <p:cNvSpPr/>
          <p:nvPr/>
        </p:nvSpPr>
        <p:spPr>
          <a:xfrm>
            <a:off x="5706000" y="2999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localSt</a:t>
            </a: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orage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8"/>
          <p:cNvSpPr/>
          <p:nvPr/>
        </p:nvSpPr>
        <p:spPr>
          <a:xfrm>
            <a:off x="5706000" y="3200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Stockage user + type de compte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39"/>
          <p:cNvSpPr/>
          <p:nvPr/>
        </p:nvSpPr>
        <p:spPr>
          <a:xfrm>
            <a:off x="5577840" y="352944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40"/>
          <p:cNvSpPr/>
          <p:nvPr/>
        </p:nvSpPr>
        <p:spPr>
          <a:xfrm>
            <a:off x="5577840" y="3529440"/>
            <a:ext cx="54000" cy="456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41"/>
          <p:cNvSpPr/>
          <p:nvPr/>
        </p:nvSpPr>
        <p:spPr>
          <a:xfrm>
            <a:off x="5706000" y="3566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Multi-rôles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42"/>
          <p:cNvSpPr/>
          <p:nvPr/>
        </p:nvSpPr>
        <p:spPr>
          <a:xfrm>
            <a:off x="5706000" y="3767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Redirection si livreur détecté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43"/>
          <p:cNvSpPr/>
          <p:nvPr/>
        </p:nvSpPr>
        <p:spPr>
          <a:xfrm>
            <a:off x="5577840" y="409644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44"/>
          <p:cNvSpPr/>
          <p:nvPr/>
        </p:nvSpPr>
        <p:spPr>
          <a:xfrm>
            <a:off x="5577840" y="4096440"/>
            <a:ext cx="54000" cy="456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45"/>
          <p:cNvSpPr/>
          <p:nvPr/>
        </p:nvSpPr>
        <p:spPr>
          <a:xfrm>
            <a:off x="5706000" y="4133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Erreur affichée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6"/>
          <p:cNvSpPr/>
          <p:nvPr/>
        </p:nvSpPr>
        <p:spPr>
          <a:xfrm>
            <a:off x="5706000" y="4334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msgErreur sous le champ email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Register.jsx — Création de compte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4"/>
          <p:cNvSpPr/>
          <p:nvPr/>
        </p:nvSpPr>
        <p:spPr>
          <a:xfrm>
            <a:off x="6217920" y="274320"/>
            <a:ext cx="2651040" cy="3466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5"/>
          <p:cNvSpPr/>
          <p:nvPr/>
        </p:nvSpPr>
        <p:spPr>
          <a:xfrm>
            <a:off x="6217920" y="274320"/>
            <a:ext cx="2651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Register.jsx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6"/>
          <p:cNvSpPr/>
          <p:nvPr/>
        </p:nvSpPr>
        <p:spPr>
          <a:xfrm>
            <a:off x="201240" y="1261800"/>
            <a:ext cx="5211360" cy="3565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7"/>
          <p:cNvSpPr/>
          <p:nvPr/>
        </p:nvSpPr>
        <p:spPr>
          <a:xfrm>
            <a:off x="292680" y="13716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Validation complète avant envoi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8"/>
          <p:cNvSpPr/>
          <p:nvPr/>
        </p:nvSpPr>
        <p:spPr>
          <a:xfrm>
            <a:off x="292680" y="15544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nouvErreurs = {}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9"/>
          <p:cNvSpPr/>
          <p:nvPr/>
        </p:nvSpPr>
        <p:spPr>
          <a:xfrm>
            <a:off x="292680" y="17373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if (!nom.trim())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0"/>
          <p:cNvSpPr/>
          <p:nvPr/>
        </p:nvSpPr>
        <p:spPr>
          <a:xfrm>
            <a:off x="292680" y="19202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  nouvErreurs.nom = 'Le nom est obligatoire'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1"/>
          <p:cNvSpPr/>
          <p:nvPr/>
        </p:nvSpPr>
        <p:spPr>
          <a:xfrm>
            <a:off x="292680" y="21031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if (!emailValide(email))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2"/>
          <p:cNvSpPr/>
          <p:nvPr/>
        </p:nvSpPr>
        <p:spPr>
          <a:xfrm>
            <a:off x="292680" y="22860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  nouvErreurs.email = 'Email invalide'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3"/>
          <p:cNvSpPr/>
          <p:nvPr/>
        </p:nvSpPr>
        <p:spPr>
          <a:xfrm>
            <a:off x="292680" y="24688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if (telephone.length !== 10)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4"/>
          <p:cNvSpPr/>
          <p:nvPr/>
        </p:nvSpPr>
        <p:spPr>
          <a:xfrm>
            <a:off x="292680" y="26517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  nouvErreurs.telephone = '10 </a:t>
            </a:r>
            <a:r>
              <a:rPr lang="en-US" sz="780" b="0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chiffres requis'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5"/>
          <p:cNvSpPr/>
          <p:nvPr/>
        </p:nvSpPr>
        <p:spPr>
          <a:xfrm>
            <a:off x="292680" y="28346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setErreurs(nouvErreurs)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6"/>
          <p:cNvSpPr/>
          <p:nvPr/>
        </p:nvSpPr>
        <p:spPr>
          <a:xfrm>
            <a:off x="292680" y="30175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if (Object.keys(nouvErreurs).length &gt; 0) return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7"/>
          <p:cNvSpPr/>
          <p:nvPr/>
        </p:nvSpPr>
        <p:spPr>
          <a:xfrm>
            <a:off x="292680" y="32004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 18"/>
          <p:cNvSpPr/>
          <p:nvPr/>
        </p:nvSpPr>
        <p:spPr>
          <a:xfrm>
            <a:off x="292680" y="33832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Nettoyage téléphone (chiffres seulement)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9"/>
          <p:cNvSpPr/>
          <p:nvPr/>
        </p:nvSpPr>
        <p:spPr>
          <a:xfrm>
            <a:off x="292680" y="35661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handleTelephone = (e) =&gt; {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0"/>
          <p:cNvSpPr/>
          <p:nvPr/>
        </p:nvSpPr>
        <p:spPr>
          <a:xfrm>
            <a:off x="292680" y="37490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const val = e.target.value.replace(/\D/g, '')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1"/>
          <p:cNvSpPr/>
          <p:nvPr/>
        </p:nvSpPr>
        <p:spPr>
          <a:xfrm>
            <a:off x="292680" y="39319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if (val.length &lt;= 10) setTelephone(val)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22"/>
          <p:cNvSpPr/>
          <p:nvPr/>
        </p:nvSpPr>
        <p:spPr>
          <a:xfrm>
            <a:off x="292680" y="41148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3"/>
          <p:cNvSpPr/>
          <p:nvPr/>
        </p:nvSpPr>
        <p:spPr>
          <a:xfrm>
            <a:off x="292680" y="42976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 24"/>
          <p:cNvSpPr/>
          <p:nvPr/>
        </p:nvSpPr>
        <p:spPr>
          <a:xfrm>
            <a:off x="292680" y="44805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Envoi POST → alert message retour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5"/>
          <p:cNvSpPr/>
          <p:nvPr/>
        </p:nvSpPr>
        <p:spPr>
          <a:xfrm>
            <a:off x="292680" y="46634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res = await fetch('.../register', { ... })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6"/>
          <p:cNvSpPr/>
          <p:nvPr/>
        </p:nvSpPr>
        <p:spPr>
          <a:xfrm>
            <a:off x="292680" y="48463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alert(data.message)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7"/>
          <p:cNvSpPr/>
          <p:nvPr/>
        </p:nvSpPr>
        <p:spPr>
          <a:xfrm>
            <a:off x="5577840" y="137160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Champs validés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8"/>
          <p:cNvSpPr/>
          <p:nvPr/>
        </p:nvSpPr>
        <p:spPr>
          <a:xfrm>
            <a:off x="5577840" y="1828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9"/>
          <p:cNvSpPr/>
          <p:nvPr/>
        </p:nvSpPr>
        <p:spPr>
          <a:xfrm>
            <a:off x="5577840" y="1828800"/>
            <a:ext cx="54000" cy="456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30"/>
          <p:cNvSpPr/>
          <p:nvPr/>
        </p:nvSpPr>
        <p:spPr>
          <a:xfrm>
            <a:off x="5706000" y="186552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Nom &amp; Prénom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31"/>
          <p:cNvSpPr/>
          <p:nvPr/>
        </p:nvSpPr>
        <p:spPr>
          <a:xfrm>
            <a:off x="5706000" y="2066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Obligatoires, non vides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32"/>
          <p:cNvSpPr/>
          <p:nvPr/>
        </p:nvSpPr>
        <p:spPr>
          <a:xfrm>
            <a:off x="5577840" y="2395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33"/>
          <p:cNvSpPr/>
          <p:nvPr/>
        </p:nvSpPr>
        <p:spPr>
          <a:xfrm>
            <a:off x="5577840" y="2395800"/>
            <a:ext cx="54000" cy="456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4"/>
          <p:cNvSpPr/>
          <p:nvPr/>
        </p:nvSpPr>
        <p:spPr>
          <a:xfrm>
            <a:off x="5706000" y="2432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Email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35"/>
          <p:cNvSpPr/>
          <p:nvPr/>
        </p:nvSpPr>
        <p:spPr>
          <a:xfrm>
            <a:off x="5706000" y="2633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Regex format valide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36"/>
          <p:cNvSpPr/>
          <p:nvPr/>
        </p:nvSpPr>
        <p:spPr>
          <a:xfrm>
            <a:off x="5577840" y="2962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37"/>
          <p:cNvSpPr/>
          <p:nvPr/>
        </p:nvSpPr>
        <p:spPr>
          <a:xfrm>
            <a:off x="5577840" y="2962800"/>
            <a:ext cx="54000" cy="456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38"/>
          <p:cNvSpPr/>
          <p:nvPr/>
        </p:nvSpPr>
        <p:spPr>
          <a:xfrm>
            <a:off x="5706000" y="2999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Téléphone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39"/>
          <p:cNvSpPr/>
          <p:nvPr/>
        </p:nvSpPr>
        <p:spPr>
          <a:xfrm>
            <a:off x="5706000" y="3200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Exactement 10 chiffres (replace /\D/g)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40"/>
          <p:cNvSpPr/>
          <p:nvPr/>
        </p:nvSpPr>
        <p:spPr>
          <a:xfrm>
            <a:off x="5577840" y="352944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41"/>
          <p:cNvSpPr/>
          <p:nvPr/>
        </p:nvSpPr>
        <p:spPr>
          <a:xfrm>
            <a:off x="5577840" y="3529440"/>
            <a:ext cx="54000" cy="456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42"/>
          <p:cNvSpPr/>
          <p:nvPr/>
        </p:nvSpPr>
        <p:spPr>
          <a:xfrm>
            <a:off x="5706000" y="3566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Mot de passe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43"/>
          <p:cNvSpPr/>
          <p:nvPr/>
        </p:nvSpPr>
        <p:spPr>
          <a:xfrm>
            <a:off x="5706000" y="3767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Non vide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44"/>
          <p:cNvSpPr/>
          <p:nvPr/>
        </p:nvSpPr>
        <p:spPr>
          <a:xfrm>
            <a:off x="5577840" y="409644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45"/>
          <p:cNvSpPr/>
          <p:nvPr/>
        </p:nvSpPr>
        <p:spPr>
          <a:xfrm>
            <a:off x="5577840" y="4096440"/>
            <a:ext cx="54000" cy="456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46"/>
          <p:cNvSpPr/>
          <p:nvPr/>
        </p:nvSpPr>
        <p:spPr>
          <a:xfrm>
            <a:off x="5706000" y="4133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Layout 2 cols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47"/>
          <p:cNvSpPr/>
          <p:nvPr/>
        </p:nvSpPr>
        <p:spPr>
          <a:xfrm>
            <a:off x="5706000" y="4334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Nom + Prénom côte à côte (.row .halfField)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CreateColis.jsx — Formulaire 3 étapes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"/>
          <p:cNvSpPr/>
          <p:nvPr/>
        </p:nvSpPr>
        <p:spPr>
          <a:xfrm>
            <a:off x="6217920" y="274320"/>
            <a:ext cx="2651040" cy="346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5"/>
          <p:cNvSpPr/>
          <p:nvPr/>
        </p:nvSpPr>
        <p:spPr>
          <a:xfrm>
            <a:off x="6217920" y="274320"/>
            <a:ext cx="2651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CreateColis.jsx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6"/>
          <p:cNvSpPr/>
          <p:nvPr/>
        </p:nvSpPr>
        <p:spPr>
          <a:xfrm>
            <a:off x="201240" y="1261800"/>
            <a:ext cx="5211360" cy="3565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292680" y="13716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Étape 1 : Dimensions + numéro auto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8"/>
          <p:cNvSpPr/>
          <p:nvPr/>
        </p:nvSpPr>
        <p:spPr>
          <a:xfrm>
            <a:off x="292680" y="15544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[numero] = useState(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9"/>
          <p:cNvSpPr/>
          <p:nvPr/>
        </p:nvSpPr>
        <p:spPr>
          <a:xfrm>
            <a:off x="292680" y="17373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Math.floor(100000 + Math.random() * 900000)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0"/>
          <p:cNvSpPr/>
          <p:nvPr/>
        </p:nvSpPr>
        <p:spPr>
          <a:xfrm>
            <a:off x="292680" y="19202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1"/>
          <p:cNvSpPr/>
          <p:nvPr/>
        </p:nvSpPr>
        <p:spPr>
          <a:xfrm>
            <a:off x="292680" y="21031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 12"/>
          <p:cNvSpPr/>
          <p:nvPr/>
        </p:nvSpPr>
        <p:spPr>
          <a:xfrm>
            <a:off x="292680" y="22860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Étape 2 : Leaflet chargé dynamiquement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3"/>
          <p:cNvSpPr/>
          <p:nvPr/>
        </p:nvSpPr>
        <p:spPr>
          <a:xfrm>
            <a:off x="292680" y="24688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script = document.createElement('script')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4"/>
          <p:cNvSpPr/>
          <p:nvPr/>
        </p:nvSpPr>
        <p:spPr>
          <a:xfrm>
            <a:off x="292680" y="26517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scrip</a:t>
            </a: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t.src </a:t>
            </a: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= </a:t>
            </a: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'http</a:t>
            </a: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s://.</a:t>
            </a: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../le</a:t>
            </a: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aflet</a:t>
            </a: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.min.</a:t>
            </a: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js'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5"/>
          <p:cNvSpPr/>
          <p:nvPr/>
        </p:nvSpPr>
        <p:spPr>
          <a:xfrm>
            <a:off x="292680" y="28346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script.onload = () =&gt; setMapReady(true)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6"/>
          <p:cNvSpPr/>
          <p:nvPr/>
        </p:nvSpPr>
        <p:spPr>
          <a:xfrm>
            <a:off x="292680" y="30175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0" name="Text 17"/>
          <p:cNvSpPr/>
          <p:nvPr/>
        </p:nvSpPr>
        <p:spPr>
          <a:xfrm>
            <a:off x="292680" y="32004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Marqueur → popup → bouton Choisir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8"/>
          <p:cNvSpPr/>
          <p:nvPr/>
        </p:nvSpPr>
        <p:spPr>
          <a:xfrm>
            <a:off x="292680" y="33832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window.choisirLocker = (id) =&gt; {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9"/>
          <p:cNvSpPr/>
          <p:nvPr/>
        </p:nvSpPr>
        <p:spPr>
          <a:xfrm>
            <a:off x="292680" y="35661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const found = LOCKERS.find(l =&gt; l.id === id)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0"/>
          <p:cNvSpPr/>
          <p:nvPr/>
        </p:nvSpPr>
        <p:spPr>
          <a:xfrm>
            <a:off x="292680" y="37490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if (found) { setLockerChoisi(found) }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1"/>
          <p:cNvSpPr/>
          <p:nvPr/>
        </p:nvSpPr>
        <p:spPr>
          <a:xfrm>
            <a:off x="292680" y="39319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22"/>
          <p:cNvSpPr/>
          <p:nvPr/>
        </p:nvSpPr>
        <p:spPr>
          <a:xfrm>
            <a:off x="292680" y="41148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 23"/>
          <p:cNvSpPr/>
          <p:nvPr/>
        </p:nvSpPr>
        <p:spPr>
          <a:xfrm>
            <a:off x="292680" y="42976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Étape 3 : POST vers API PHP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4"/>
          <p:cNvSpPr/>
          <p:nvPr/>
        </p:nvSpPr>
        <p:spPr>
          <a:xfrm>
            <a:off x="292680" y="44805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await fetch('http://.../colis.php', {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5"/>
          <p:cNvSpPr/>
          <p:nvPr/>
        </p:nvSpPr>
        <p:spPr>
          <a:xfrm>
            <a:off x="292680" y="46634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body: JSON.stringify({ num_colis, longueur,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6"/>
          <p:cNvSpPr/>
          <p:nvPr/>
        </p:nvSpPr>
        <p:spPr>
          <a:xfrm>
            <a:off x="292680" y="48463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  largeur, hauteur, destinataire, idExpediteur })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7"/>
          <p:cNvSpPr/>
          <p:nvPr/>
        </p:nvSpPr>
        <p:spPr>
          <a:xfrm>
            <a:off x="292680" y="50292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})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8"/>
          <p:cNvSpPr/>
          <p:nvPr/>
        </p:nvSpPr>
        <p:spPr>
          <a:xfrm>
            <a:off x="5577840" y="137160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Logique 3 étapes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29"/>
          <p:cNvSpPr/>
          <p:nvPr/>
        </p:nvSpPr>
        <p:spPr>
          <a:xfrm>
            <a:off x="5577840" y="1828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30"/>
          <p:cNvSpPr/>
          <p:nvPr/>
        </p:nvSpPr>
        <p:spPr>
          <a:xfrm>
            <a:off x="5577840" y="1828800"/>
            <a:ext cx="54000" cy="456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1"/>
          <p:cNvSpPr/>
          <p:nvPr/>
        </p:nvSpPr>
        <p:spPr>
          <a:xfrm>
            <a:off x="5706000" y="186552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useState(etape)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32"/>
          <p:cNvSpPr/>
          <p:nvPr/>
        </p:nvSpPr>
        <p:spPr>
          <a:xfrm>
            <a:off x="5706000" y="2066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Contrôle quelle étape s'affiche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33"/>
          <p:cNvSpPr/>
          <p:nvPr/>
        </p:nvSpPr>
        <p:spPr>
          <a:xfrm>
            <a:off x="5577840" y="2395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34"/>
          <p:cNvSpPr/>
          <p:nvPr/>
        </p:nvSpPr>
        <p:spPr>
          <a:xfrm>
            <a:off x="5577840" y="2395800"/>
            <a:ext cx="54000" cy="456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35"/>
          <p:cNvSpPr/>
          <p:nvPr/>
        </p:nvSpPr>
        <p:spPr>
          <a:xfrm>
            <a:off x="5706000" y="2432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Leaflet dynamique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36"/>
          <p:cNvSpPr/>
          <p:nvPr/>
        </p:nvSpPr>
        <p:spPr>
          <a:xfrm>
            <a:off x="5706000" y="2633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Script + CSS injectés via useEffect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37"/>
          <p:cNvSpPr/>
          <p:nvPr/>
        </p:nvSpPr>
        <p:spPr>
          <a:xfrm>
            <a:off x="5577840" y="2962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38"/>
          <p:cNvSpPr/>
          <p:nvPr/>
        </p:nvSpPr>
        <p:spPr>
          <a:xfrm>
            <a:off x="5577840" y="2962800"/>
            <a:ext cx="54000" cy="456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39"/>
          <p:cNvSpPr/>
          <p:nvPr/>
        </p:nvSpPr>
        <p:spPr>
          <a:xfrm>
            <a:off x="5706000" y="2999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window.choisirLocker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40"/>
          <p:cNvSpPr/>
          <p:nvPr/>
        </p:nvSpPr>
        <p:spPr>
          <a:xfrm>
            <a:off x="5706000" y="3200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Callback popup → setLockerChoisi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41"/>
          <p:cNvSpPr/>
          <p:nvPr/>
        </p:nvSpPr>
        <p:spPr>
          <a:xfrm>
            <a:off x="5577840" y="352944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42"/>
          <p:cNvSpPr/>
          <p:nvPr/>
        </p:nvSpPr>
        <p:spPr>
          <a:xfrm>
            <a:off x="5577840" y="3529440"/>
            <a:ext cx="54000" cy="456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43"/>
          <p:cNvSpPr/>
          <p:nvPr/>
        </p:nvSpPr>
        <p:spPr>
          <a:xfrm>
            <a:off x="5706000" y="3566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Numéro auto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44"/>
          <p:cNvSpPr/>
          <p:nvPr/>
        </p:nvSpPr>
        <p:spPr>
          <a:xfrm>
            <a:off x="5706000" y="3767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Math.random() 6 chiffres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45"/>
          <p:cNvSpPr/>
          <p:nvPr/>
        </p:nvSpPr>
        <p:spPr>
          <a:xfrm>
            <a:off x="5577840" y="409644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46"/>
          <p:cNvSpPr/>
          <p:nvPr/>
        </p:nvSpPr>
        <p:spPr>
          <a:xfrm>
            <a:off x="5577840" y="4096440"/>
            <a:ext cx="54000" cy="456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47"/>
          <p:cNvSpPr/>
          <p:nvPr/>
        </p:nvSpPr>
        <p:spPr>
          <a:xfrm>
            <a:off x="5706000" y="4133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buttonDisabled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48"/>
          <p:cNvSpPr/>
          <p:nvPr/>
        </p:nvSpPr>
        <p:spPr>
          <a:xfrm>
            <a:off x="5706000" y="4334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Bouton Suivant grisé si pas de locker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Track.jsx — Suivi sans connexion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4"/>
          <p:cNvSpPr/>
          <p:nvPr/>
        </p:nvSpPr>
        <p:spPr>
          <a:xfrm>
            <a:off x="6217920" y="274320"/>
            <a:ext cx="2651040" cy="346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5"/>
          <p:cNvSpPr/>
          <p:nvPr/>
        </p:nvSpPr>
        <p:spPr>
          <a:xfrm>
            <a:off x="6217920" y="274320"/>
            <a:ext cx="2651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Track.jsx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6"/>
          <p:cNvSpPr/>
          <p:nvPr/>
        </p:nvSpPr>
        <p:spPr>
          <a:xfrm>
            <a:off x="201240" y="1261800"/>
            <a:ext cx="5211360" cy="3565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7"/>
          <p:cNvSpPr/>
          <p:nvPr/>
        </p:nvSpPr>
        <p:spPr>
          <a:xfrm>
            <a:off x="292680" y="13716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Accessible sans être connecté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8"/>
          <p:cNvSpPr/>
          <p:nvPr/>
        </p:nvSpPr>
        <p:spPr>
          <a:xfrm>
            <a:off x="292680" y="15544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[numero, setNumero] = useState('')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9"/>
          <p:cNvSpPr/>
          <p:nvPr/>
        </p:nvSpPr>
        <p:spPr>
          <a:xfrm>
            <a:off x="292680" y="17373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[colis, setColis] = useState(null)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0"/>
          <p:cNvSpPr/>
          <p:nvPr/>
        </p:nvSpPr>
        <p:spPr>
          <a:xfrm>
            <a:off x="292680" y="19202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[erreur, setErreur] = useState('')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1"/>
          <p:cNvSpPr/>
          <p:nvPr/>
        </p:nvSpPr>
        <p:spPr>
          <a:xfrm>
            <a:off x="292680" y="21031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 12"/>
          <p:cNvSpPr/>
          <p:nvPr/>
        </p:nvSpPr>
        <p:spPr>
          <a:xfrm>
            <a:off x="292680" y="22860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handleSearch = async () =&gt; {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3"/>
          <p:cNvSpPr/>
          <p:nvPr/>
        </p:nvSpPr>
        <p:spPr>
          <a:xfrm>
            <a:off x="292680" y="24688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setErreur('')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4"/>
          <p:cNvSpPr/>
          <p:nvPr/>
        </p:nvSpPr>
        <p:spPr>
          <a:xfrm>
            <a:off x="292680" y="26517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setColis(null)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5"/>
          <p:cNvSpPr/>
          <p:nvPr/>
        </p:nvSpPr>
        <p:spPr>
          <a:xfrm>
            <a:off x="292680" y="28346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ext 16"/>
          <p:cNvSpPr/>
          <p:nvPr/>
        </p:nvSpPr>
        <p:spPr>
          <a:xfrm>
            <a:off x="292680" y="30175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const res = await fetch(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7"/>
          <p:cNvSpPr/>
          <p:nvPr/>
        </p:nvSpPr>
        <p:spPr>
          <a:xfrm>
            <a:off x="292680" y="32004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    `http://localhost:3001/track/${numero}`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8"/>
          <p:cNvSpPr/>
          <p:nvPr/>
        </p:nvSpPr>
        <p:spPr>
          <a:xfrm>
            <a:off x="292680" y="33832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9"/>
          <p:cNvSpPr/>
          <p:nvPr/>
        </p:nvSpPr>
        <p:spPr>
          <a:xfrm>
            <a:off x="292680" y="35661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const data = await res.json()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20"/>
          <p:cNvSpPr/>
          <p:nvPr/>
        </p:nvSpPr>
        <p:spPr>
          <a:xfrm>
            <a:off x="292680" y="37490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3" name="Text 21"/>
          <p:cNvSpPr/>
          <p:nvPr/>
        </p:nvSpPr>
        <p:spPr>
          <a:xfrm>
            <a:off x="292680" y="39319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  if (data.success === false) {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22"/>
          <p:cNvSpPr/>
          <p:nvPr/>
        </p:nvSpPr>
        <p:spPr>
          <a:xfrm>
            <a:off x="292680" y="41148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    setErreur('Aucun colis trouvé.')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23"/>
          <p:cNvSpPr/>
          <p:nvPr/>
        </p:nvSpPr>
        <p:spPr>
          <a:xfrm>
            <a:off x="292680" y="42976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} else {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4"/>
          <p:cNvSpPr/>
          <p:nvPr/>
        </p:nvSpPr>
        <p:spPr>
          <a:xfrm>
            <a:off x="292680" y="44805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  setColis(data)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5"/>
          <p:cNvSpPr/>
          <p:nvPr/>
        </p:nvSpPr>
        <p:spPr>
          <a:xfrm>
            <a:off x="292680" y="46634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6"/>
          <p:cNvSpPr/>
          <p:nvPr/>
        </p:nvSpPr>
        <p:spPr>
          <a:xfrm>
            <a:off x="292680" y="48463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7"/>
          <p:cNvSpPr/>
          <p:nvPr/>
        </p:nvSpPr>
        <p:spPr>
          <a:xfrm>
            <a:off x="5577840" y="137160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Points clés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8"/>
          <p:cNvSpPr/>
          <p:nvPr/>
        </p:nvSpPr>
        <p:spPr>
          <a:xfrm>
            <a:off x="5577840" y="1828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29"/>
          <p:cNvSpPr/>
          <p:nvPr/>
        </p:nvSpPr>
        <p:spPr>
          <a:xfrm>
            <a:off x="5577840" y="1828800"/>
            <a:ext cx="54000" cy="456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30"/>
          <p:cNvSpPr/>
          <p:nvPr/>
        </p:nvSpPr>
        <p:spPr>
          <a:xfrm>
            <a:off x="5706000" y="186552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Sans connexion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31"/>
          <p:cNvSpPr/>
          <p:nvPr/>
        </p:nvSpPr>
        <p:spPr>
          <a:xfrm>
            <a:off x="5706000" y="2066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Aucun localStorage requis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32"/>
          <p:cNvSpPr/>
          <p:nvPr/>
        </p:nvSpPr>
        <p:spPr>
          <a:xfrm>
            <a:off x="5577840" y="2395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33"/>
          <p:cNvSpPr/>
          <p:nvPr/>
        </p:nvSpPr>
        <p:spPr>
          <a:xfrm>
            <a:off x="5577840" y="2395800"/>
            <a:ext cx="54000" cy="456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34"/>
          <p:cNvSpPr/>
          <p:nvPr/>
        </p:nvSpPr>
        <p:spPr>
          <a:xfrm>
            <a:off x="5706000" y="2432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GET dynamique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35"/>
          <p:cNvSpPr/>
          <p:nvPr/>
        </p:nvSpPr>
        <p:spPr>
          <a:xfrm>
            <a:off x="5706000" y="2633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URL avec numéro en paramètre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36"/>
          <p:cNvSpPr/>
          <p:nvPr/>
        </p:nvSpPr>
        <p:spPr>
          <a:xfrm>
            <a:off x="5577840" y="2962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37"/>
          <p:cNvSpPr/>
          <p:nvPr/>
        </p:nvSpPr>
        <p:spPr>
          <a:xfrm>
            <a:off x="5577840" y="2962800"/>
            <a:ext cx="54000" cy="456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38"/>
          <p:cNvSpPr/>
          <p:nvPr/>
        </p:nvSpPr>
        <p:spPr>
          <a:xfrm>
            <a:off x="5706000" y="2999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alertRed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39"/>
          <p:cNvSpPr/>
          <p:nvPr/>
        </p:nvSpPr>
        <p:spPr>
          <a:xfrm>
            <a:off x="5706000" y="3200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Message si colis introuvable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40"/>
          <p:cNvSpPr/>
          <p:nvPr/>
        </p:nvSpPr>
        <p:spPr>
          <a:xfrm>
            <a:off x="5577840" y="352944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41"/>
          <p:cNvSpPr/>
          <p:nvPr/>
        </p:nvSpPr>
        <p:spPr>
          <a:xfrm>
            <a:off x="5577840" y="3529440"/>
            <a:ext cx="54000" cy="456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42"/>
          <p:cNvSpPr/>
          <p:nvPr/>
        </p:nvSpPr>
        <p:spPr>
          <a:xfrm>
            <a:off x="5706000" y="3566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card résultat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43"/>
          <p:cNvSpPr/>
          <p:nvPr/>
        </p:nvSpPr>
        <p:spPr>
          <a:xfrm>
            <a:off x="5706000" y="3767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Dimensions + destinataire affichés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44"/>
          <p:cNvSpPr/>
          <p:nvPr/>
        </p:nvSpPr>
        <p:spPr>
          <a:xfrm>
            <a:off x="5577840" y="409644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45"/>
          <p:cNvSpPr/>
          <p:nvPr/>
        </p:nvSpPr>
        <p:spPr>
          <a:xfrm>
            <a:off x="5577840" y="4096440"/>
            <a:ext cx="54000" cy="456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46"/>
          <p:cNvSpPr/>
          <p:nvPr/>
        </p:nvSpPr>
        <p:spPr>
          <a:xfrm>
            <a:off x="5706000" y="4133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État local simple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47"/>
          <p:cNvSpPr/>
          <p:nvPr/>
        </p:nvSpPr>
        <p:spPr>
          <a:xfrm>
            <a:off x="5706000" y="4334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 useState suffit (numero, colis, erreur)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Account.jsx — Mon compte &amp; mes colis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4"/>
          <p:cNvSpPr/>
          <p:nvPr/>
        </p:nvSpPr>
        <p:spPr>
          <a:xfrm>
            <a:off x="6217920" y="274320"/>
            <a:ext cx="2651040" cy="346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5"/>
          <p:cNvSpPr/>
          <p:nvPr/>
        </p:nvSpPr>
        <p:spPr>
          <a:xfrm>
            <a:off x="6217920" y="274320"/>
            <a:ext cx="2651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Account.jsx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6"/>
          <p:cNvSpPr/>
          <p:nvPr/>
        </p:nvSpPr>
        <p:spPr>
          <a:xfrm>
            <a:off x="201240" y="1261800"/>
            <a:ext cx="5211360" cy="356544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7"/>
          <p:cNvSpPr/>
          <p:nvPr/>
        </p:nvSpPr>
        <p:spPr>
          <a:xfrm>
            <a:off x="292680" y="13716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Chargement au montage (useEffect)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8"/>
          <p:cNvSpPr/>
          <p:nvPr/>
        </p:nvSpPr>
        <p:spPr>
          <a:xfrm>
            <a:off x="292680" y="15544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useEffect(() =&gt; {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9"/>
          <p:cNvSpPr/>
          <p:nvPr/>
        </p:nvSpPr>
        <p:spPr>
          <a:xfrm>
            <a:off x="292680" y="17373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const u = JSON.parse(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0"/>
          <p:cNvSpPr/>
          <p:nvPr/>
        </p:nvSpPr>
        <p:spPr>
          <a:xfrm>
            <a:off x="292680" y="19202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9C74F"/>
                </a:solidFill>
                <a:effectLst/>
                <a:uFillTx/>
                <a:latin typeface="Consolas"/>
                <a:ea typeface="Consolas"/>
              </a:rPr>
              <a:t>    localStorage.getItem('user') || '{}'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1"/>
          <p:cNvSpPr/>
          <p:nvPr/>
        </p:nvSpPr>
        <p:spPr>
          <a:xfrm>
            <a:off x="292680" y="21031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2"/>
          <p:cNvSpPr/>
          <p:nvPr/>
        </p:nvSpPr>
        <p:spPr>
          <a:xfrm>
            <a:off x="292680" y="22860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setUser(u)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3"/>
          <p:cNvSpPr/>
          <p:nvPr/>
        </p:nvSpPr>
        <p:spPr>
          <a:xfrm>
            <a:off x="292680" y="24688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4" name="Text 14"/>
          <p:cNvSpPr/>
          <p:nvPr/>
        </p:nvSpPr>
        <p:spPr>
          <a:xfrm>
            <a:off x="292680" y="26517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  // Récupérer les colis du user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5"/>
          <p:cNvSpPr/>
          <p:nvPr/>
        </p:nvSpPr>
        <p:spPr>
          <a:xfrm>
            <a:off x="292680" y="28346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fetch(`http://.../colis-user/${u.id}`)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6"/>
          <p:cNvSpPr/>
          <p:nvPr/>
        </p:nvSpPr>
        <p:spPr>
          <a:xfrm>
            <a:off x="292680" y="30175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  .then(res =&gt; res.json())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7"/>
          <p:cNvSpPr/>
          <p:nvPr/>
        </p:nvSpPr>
        <p:spPr>
          <a:xfrm>
            <a:off x="292680" y="32004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  .then(data =&gt; setColis(data))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8"/>
          <p:cNvSpPr/>
          <p:nvPr/>
        </p:nvSpPr>
        <p:spPr>
          <a:xfrm>
            <a:off x="292680" y="33832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    .catch(err =&gt; console.error(err))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9"/>
          <p:cNvSpPr/>
          <p:nvPr/>
        </p:nvSpPr>
        <p:spPr>
          <a:xfrm>
            <a:off x="292680" y="35661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}, [])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20"/>
          <p:cNvSpPr/>
          <p:nvPr/>
        </p:nvSpPr>
        <p:spPr>
          <a:xfrm>
            <a:off x="292680" y="37490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1" name="Text 21"/>
          <p:cNvSpPr/>
          <p:nvPr/>
        </p:nvSpPr>
        <p:spPr>
          <a:xfrm>
            <a:off x="292680" y="39319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Affichage conditionnel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22"/>
          <p:cNvSpPr/>
          <p:nvPr/>
        </p:nvSpPr>
        <p:spPr>
          <a:xfrm>
            <a:off x="292680" y="41148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{user &amp;&amp; (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23"/>
          <p:cNvSpPr/>
          <p:nvPr/>
        </p:nvSpPr>
        <p:spPr>
          <a:xfrm>
            <a:off x="292680" y="42976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&lt;div className='card'&gt;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24"/>
          <p:cNvSpPr/>
          <p:nvPr/>
        </p:nvSpPr>
        <p:spPr>
          <a:xfrm>
            <a:off x="292680" y="44805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  &lt;p&gt;{user.nom} </a:t>
            </a: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{user.prenom}&lt;/p&gt;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5"/>
          <p:cNvSpPr/>
          <p:nvPr/>
        </p:nvSpPr>
        <p:spPr>
          <a:xfrm>
            <a:off x="292680" y="46634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&lt;/div&gt;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6"/>
          <p:cNvSpPr/>
          <p:nvPr/>
        </p:nvSpPr>
        <p:spPr>
          <a:xfrm>
            <a:off x="292680" y="48463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)}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27"/>
          <p:cNvSpPr/>
          <p:nvPr/>
        </p:nvSpPr>
        <p:spPr>
          <a:xfrm>
            <a:off x="5577840" y="137160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Points clés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8"/>
          <p:cNvSpPr/>
          <p:nvPr/>
        </p:nvSpPr>
        <p:spPr>
          <a:xfrm>
            <a:off x="5577840" y="1828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9"/>
          <p:cNvSpPr/>
          <p:nvPr/>
        </p:nvSpPr>
        <p:spPr>
          <a:xfrm>
            <a:off x="5577840" y="1828800"/>
            <a:ext cx="54000" cy="456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30"/>
          <p:cNvSpPr/>
          <p:nvPr/>
        </p:nvSpPr>
        <p:spPr>
          <a:xfrm>
            <a:off x="5706000" y="186552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useEffect []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31"/>
          <p:cNvSpPr/>
          <p:nvPr/>
        </p:nvSpPr>
        <p:spPr>
          <a:xfrm>
            <a:off x="5706000" y="2066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Chargement unique au montage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32"/>
          <p:cNvSpPr/>
          <p:nvPr/>
        </p:nvSpPr>
        <p:spPr>
          <a:xfrm>
            <a:off x="5577840" y="2395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33"/>
          <p:cNvSpPr/>
          <p:nvPr/>
        </p:nvSpPr>
        <p:spPr>
          <a:xfrm>
            <a:off x="5577840" y="2395800"/>
            <a:ext cx="54000" cy="456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34"/>
          <p:cNvSpPr/>
          <p:nvPr/>
        </p:nvSpPr>
        <p:spPr>
          <a:xfrm>
            <a:off x="5706000" y="2432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localStorage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35"/>
          <p:cNvSpPr/>
          <p:nvPr/>
        </p:nvSpPr>
        <p:spPr>
          <a:xfrm>
            <a:off x="5706000" y="2633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Récupère l'objet user complet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36"/>
          <p:cNvSpPr/>
          <p:nvPr/>
        </p:nvSpPr>
        <p:spPr>
          <a:xfrm>
            <a:off x="5577840" y="2962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37"/>
          <p:cNvSpPr/>
          <p:nvPr/>
        </p:nvSpPr>
        <p:spPr>
          <a:xfrm>
            <a:off x="5577840" y="2962800"/>
            <a:ext cx="54000" cy="456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38"/>
          <p:cNvSpPr/>
          <p:nvPr/>
        </p:nvSpPr>
        <p:spPr>
          <a:xfrm>
            <a:off x="5706000" y="2999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GET colis-user/id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39"/>
          <p:cNvSpPr/>
          <p:nvPr/>
        </p:nvSpPr>
        <p:spPr>
          <a:xfrm>
            <a:off x="5706000" y="3200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Colis liés à cet utilisateur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40"/>
          <p:cNvSpPr/>
          <p:nvPr/>
        </p:nvSpPr>
        <p:spPr>
          <a:xfrm>
            <a:off x="5577840" y="352944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41"/>
          <p:cNvSpPr/>
          <p:nvPr/>
        </p:nvSpPr>
        <p:spPr>
          <a:xfrm>
            <a:off x="5577840" y="3529440"/>
            <a:ext cx="54000" cy="456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42"/>
          <p:cNvSpPr/>
          <p:nvPr/>
        </p:nvSpPr>
        <p:spPr>
          <a:xfrm>
            <a:off x="5706000" y="3566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map() sur colis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43"/>
          <p:cNvSpPr/>
          <p:nvPr/>
        </p:nvSpPr>
        <p:spPr>
          <a:xfrm>
            <a:off x="5706000" y="3767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Affichage dynamique de chaque colis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44"/>
          <p:cNvSpPr/>
          <p:nvPr/>
        </p:nvSpPr>
        <p:spPr>
          <a:xfrm>
            <a:off x="5577840" y="409644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45"/>
          <p:cNvSpPr/>
          <p:nvPr/>
        </p:nvSpPr>
        <p:spPr>
          <a:xfrm>
            <a:off x="5577840" y="4096440"/>
            <a:ext cx="54000" cy="456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46"/>
          <p:cNvSpPr/>
          <p:nvPr/>
        </p:nvSpPr>
        <p:spPr>
          <a:xfrm>
            <a:off x="5706000" y="4133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Affichage conditionnel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47"/>
          <p:cNvSpPr/>
          <p:nvPr/>
        </p:nvSpPr>
        <p:spPr>
          <a:xfrm>
            <a:off x="5706000" y="4334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user &amp;&amp; &lt;div&gt; pour éviter erreur null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LivreurPage.jsx — Espace livreur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4"/>
          <p:cNvSpPr/>
          <p:nvPr/>
        </p:nvSpPr>
        <p:spPr>
          <a:xfrm>
            <a:off x="6217920" y="274320"/>
            <a:ext cx="2651040" cy="346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5"/>
          <p:cNvSpPr/>
          <p:nvPr/>
        </p:nvSpPr>
        <p:spPr>
          <a:xfrm>
            <a:off x="6217920" y="274320"/>
            <a:ext cx="2651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LivreurPage.jsx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6"/>
          <p:cNvSpPr/>
          <p:nvPr/>
        </p:nvSpPr>
        <p:spPr>
          <a:xfrm>
            <a:off x="201240" y="1261800"/>
            <a:ext cx="5211360" cy="3565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7"/>
          <p:cNvSpPr/>
          <p:nvPr/>
        </p:nvSpPr>
        <p:spPr>
          <a:xfrm>
            <a:off x="292680" y="13716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</a:t>
            </a: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Charge</a:t>
            </a: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ment </a:t>
            </a: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de </a:t>
            </a: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tous </a:t>
            </a: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les </a:t>
            </a: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colis </a:t>
            </a: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dispo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8"/>
          <p:cNvSpPr/>
          <p:nvPr/>
        </p:nvSpPr>
        <p:spPr>
          <a:xfrm>
            <a:off x="292680" y="15544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useEffect(() =&gt; {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9"/>
          <p:cNvSpPr/>
          <p:nvPr/>
        </p:nvSpPr>
        <p:spPr>
          <a:xfrm>
            <a:off x="292680" y="17373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fetch('http://localhost:3001/all-colis')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0"/>
          <p:cNvSpPr/>
          <p:nvPr/>
        </p:nvSpPr>
        <p:spPr>
          <a:xfrm>
            <a:off x="292680" y="19202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  .then(res =&gt; res.json())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1"/>
          <p:cNvSpPr/>
          <p:nvPr/>
        </p:nvSpPr>
        <p:spPr>
          <a:xfrm>
            <a:off x="292680" y="21031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  .then(data =&gt; setColis(data))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2"/>
          <p:cNvSpPr/>
          <p:nvPr/>
        </p:nvSpPr>
        <p:spPr>
          <a:xfrm>
            <a:off x="292680" y="22860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}, [])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3"/>
          <p:cNvSpPr/>
          <p:nvPr/>
        </p:nvSpPr>
        <p:spPr>
          <a:xfrm>
            <a:off x="292680" y="24688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2" name="Text 14"/>
          <p:cNvSpPr/>
          <p:nvPr/>
        </p:nvSpPr>
        <p:spPr>
          <a:xfrm>
            <a:off x="292680" y="26517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Mettre à jour sa disponibilité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15"/>
          <p:cNvSpPr/>
          <p:nvPr/>
        </p:nvSpPr>
        <p:spPr>
          <a:xfrm>
            <a:off x="292680" y="28346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const updateDispo = async () =&gt; {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16"/>
          <p:cNvSpPr/>
          <p:nvPr/>
        </p:nvSpPr>
        <p:spPr>
          <a:xfrm>
            <a:off x="292680" y="30175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await fetch('.../update-dispo', {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17"/>
          <p:cNvSpPr/>
          <p:nvPr/>
        </p:nvSpPr>
        <p:spPr>
          <a:xfrm>
            <a:off x="292680" y="32004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  method: 'POST',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18"/>
          <p:cNvSpPr/>
          <p:nvPr/>
        </p:nvSpPr>
        <p:spPr>
          <a:xfrm>
            <a:off x="292680" y="33832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  body: JSON.stringify({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19"/>
          <p:cNvSpPr/>
          <p:nvPr/>
        </p:nvSpPr>
        <p:spPr>
          <a:xfrm>
            <a:off x="292680" y="35661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    idLivreur: user.id,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20"/>
          <p:cNvSpPr/>
          <p:nvPr/>
        </p:nvSpPr>
        <p:spPr>
          <a:xfrm>
            <a:off x="292680" y="37490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BBE77"/>
                </a:solidFill>
                <a:effectLst/>
                <a:uFillTx/>
                <a:latin typeface="Consolas"/>
                <a:ea typeface="Consolas"/>
              </a:rPr>
              <a:t>      disponibilite: 'Disponible'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21"/>
          <p:cNvSpPr/>
          <p:nvPr/>
        </p:nvSpPr>
        <p:spPr>
          <a:xfrm>
            <a:off x="292680" y="39319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  })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22"/>
          <p:cNvSpPr/>
          <p:nvPr/>
        </p:nvSpPr>
        <p:spPr>
          <a:xfrm>
            <a:off x="292680" y="411480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})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23"/>
          <p:cNvSpPr/>
          <p:nvPr/>
        </p:nvSpPr>
        <p:spPr>
          <a:xfrm>
            <a:off x="292680" y="429768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  alert('OK')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24"/>
          <p:cNvSpPr/>
          <p:nvPr/>
        </p:nvSpPr>
        <p:spPr>
          <a:xfrm>
            <a:off x="292680" y="448056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9D9D9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25"/>
          <p:cNvSpPr/>
          <p:nvPr/>
        </p:nvSpPr>
        <p:spPr>
          <a:xfrm>
            <a:off x="292680" y="466344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7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4" name="Text 26"/>
          <p:cNvSpPr/>
          <p:nvPr/>
        </p:nvSpPr>
        <p:spPr>
          <a:xfrm>
            <a:off x="292680" y="4846320"/>
            <a:ext cx="5028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B9FD4"/>
                </a:solidFill>
                <a:effectLst/>
                <a:uFillTx/>
                <a:latin typeface="Consolas"/>
                <a:ea typeface="Consolas"/>
              </a:rPr>
              <a:t>// Affiche la liste des colis avec .map()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27"/>
          <p:cNvSpPr/>
          <p:nvPr/>
        </p:nvSpPr>
        <p:spPr>
          <a:xfrm>
            <a:off x="5577840" y="137160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Points clés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28"/>
          <p:cNvSpPr/>
          <p:nvPr/>
        </p:nvSpPr>
        <p:spPr>
          <a:xfrm>
            <a:off x="5577840" y="1828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29"/>
          <p:cNvSpPr/>
          <p:nvPr/>
        </p:nvSpPr>
        <p:spPr>
          <a:xfrm>
            <a:off x="5577840" y="1828800"/>
            <a:ext cx="54000" cy="456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30"/>
          <p:cNvSpPr/>
          <p:nvPr/>
        </p:nvSpPr>
        <p:spPr>
          <a:xfrm>
            <a:off x="5706000" y="186552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Accès protégé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31"/>
          <p:cNvSpPr/>
          <p:nvPr/>
        </p:nvSpPr>
        <p:spPr>
          <a:xfrm>
            <a:off x="5706000" y="2066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isLivreur requis dans App.jsx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32"/>
          <p:cNvSpPr/>
          <p:nvPr/>
        </p:nvSpPr>
        <p:spPr>
          <a:xfrm>
            <a:off x="5577840" y="2395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33"/>
          <p:cNvSpPr/>
          <p:nvPr/>
        </p:nvSpPr>
        <p:spPr>
          <a:xfrm>
            <a:off x="5577840" y="2395800"/>
            <a:ext cx="54000" cy="456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34"/>
          <p:cNvSpPr/>
          <p:nvPr/>
        </p:nvSpPr>
        <p:spPr>
          <a:xfrm>
            <a:off x="5706000" y="2432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GET all-colis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35"/>
          <p:cNvSpPr/>
          <p:nvPr/>
        </p:nvSpPr>
        <p:spPr>
          <a:xfrm>
            <a:off x="5706000" y="2633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Liste tous les colis à livrer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36"/>
          <p:cNvSpPr/>
          <p:nvPr/>
        </p:nvSpPr>
        <p:spPr>
          <a:xfrm>
            <a:off x="5577840" y="296280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37"/>
          <p:cNvSpPr/>
          <p:nvPr/>
        </p:nvSpPr>
        <p:spPr>
          <a:xfrm>
            <a:off x="5577840" y="2962800"/>
            <a:ext cx="54000" cy="456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38"/>
          <p:cNvSpPr/>
          <p:nvPr/>
        </p:nvSpPr>
        <p:spPr>
          <a:xfrm>
            <a:off x="5706000" y="2999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POST update-dispo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39"/>
          <p:cNvSpPr/>
          <p:nvPr/>
        </p:nvSpPr>
        <p:spPr>
          <a:xfrm>
            <a:off x="5706000" y="3200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Change le statut du livreur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40"/>
          <p:cNvSpPr/>
          <p:nvPr/>
        </p:nvSpPr>
        <p:spPr>
          <a:xfrm>
            <a:off x="5577840" y="352944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41"/>
          <p:cNvSpPr/>
          <p:nvPr/>
        </p:nvSpPr>
        <p:spPr>
          <a:xfrm>
            <a:off x="5577840" y="3529440"/>
            <a:ext cx="54000" cy="456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42"/>
          <p:cNvSpPr/>
          <p:nvPr/>
        </p:nvSpPr>
        <p:spPr>
          <a:xfrm>
            <a:off x="5706000" y="3566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buttonGreen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43"/>
          <p:cNvSpPr/>
          <p:nvPr/>
        </p:nvSpPr>
        <p:spPr>
          <a:xfrm>
            <a:off x="5706000" y="3767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Bouton vert dédié livreur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44"/>
          <p:cNvSpPr/>
          <p:nvPr/>
        </p:nvSpPr>
        <p:spPr>
          <a:xfrm>
            <a:off x="5577840" y="4096440"/>
            <a:ext cx="3291120" cy="456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45"/>
          <p:cNvSpPr/>
          <p:nvPr/>
        </p:nvSpPr>
        <p:spPr>
          <a:xfrm>
            <a:off x="5577840" y="4096440"/>
            <a:ext cx="54000" cy="456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46"/>
          <p:cNvSpPr/>
          <p:nvPr/>
        </p:nvSpPr>
        <p:spPr>
          <a:xfrm>
            <a:off x="5706000" y="413316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user.id via localStorage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47"/>
          <p:cNvSpPr/>
          <p:nvPr/>
        </p:nvSpPr>
        <p:spPr>
          <a:xfrm>
            <a:off x="5706000" y="4334400"/>
            <a:ext cx="3016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ID récupéré depuis la session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Site web — Fonctionnalités développées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4"/>
          <p:cNvSpPr/>
          <p:nvPr/>
        </p:nvSpPr>
        <p:spPr>
          <a:xfrm>
            <a:off x="201240" y="1280160"/>
            <a:ext cx="2833920" cy="1599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5"/>
          <p:cNvSpPr/>
          <p:nvPr/>
        </p:nvSpPr>
        <p:spPr>
          <a:xfrm>
            <a:off x="311040" y="1444680"/>
            <a:ext cx="456480" cy="4564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6"/>
          <p:cNvSpPr/>
          <p:nvPr/>
        </p:nvSpPr>
        <p:spPr>
          <a:xfrm>
            <a:off x="311040" y="14446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7"/>
          <p:cNvSpPr/>
          <p:nvPr/>
        </p:nvSpPr>
        <p:spPr>
          <a:xfrm>
            <a:off x="859680" y="1444680"/>
            <a:ext cx="2056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Compte client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8"/>
          <p:cNvSpPr/>
          <p:nvPr/>
        </p:nvSpPr>
        <p:spPr>
          <a:xfrm>
            <a:off x="311040" y="1993320"/>
            <a:ext cx="260532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Inscription avec validation email + téléphone (10 chiffres), connexion sécurisée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9"/>
          <p:cNvSpPr/>
          <p:nvPr/>
        </p:nvSpPr>
        <p:spPr>
          <a:xfrm>
            <a:off x="3145680" y="1280160"/>
            <a:ext cx="2833920" cy="1599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10"/>
          <p:cNvSpPr/>
          <p:nvPr/>
        </p:nvSpPr>
        <p:spPr>
          <a:xfrm>
            <a:off x="3255120" y="1444680"/>
            <a:ext cx="456480" cy="456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11"/>
          <p:cNvSpPr/>
          <p:nvPr/>
        </p:nvSpPr>
        <p:spPr>
          <a:xfrm>
            <a:off x="3255120" y="14446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2"/>
          <p:cNvSpPr/>
          <p:nvPr/>
        </p:nvSpPr>
        <p:spPr>
          <a:xfrm>
            <a:off x="3803760" y="1444680"/>
            <a:ext cx="2056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Créer un colis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3"/>
          <p:cNvSpPr/>
          <p:nvPr/>
        </p:nvSpPr>
        <p:spPr>
          <a:xfrm>
            <a:off x="3255120" y="1993320"/>
            <a:ext cx="260532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Formulaire 3 étapes : dimensions → choix locker (carte OSM) → confirmation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14"/>
          <p:cNvSpPr/>
          <p:nvPr/>
        </p:nvSpPr>
        <p:spPr>
          <a:xfrm>
            <a:off x="6089760" y="1280160"/>
            <a:ext cx="2833920" cy="1599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5"/>
          <p:cNvSpPr/>
          <p:nvPr/>
        </p:nvSpPr>
        <p:spPr>
          <a:xfrm>
            <a:off x="6199560" y="1444680"/>
            <a:ext cx="456480" cy="456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16"/>
          <p:cNvSpPr/>
          <p:nvPr/>
        </p:nvSpPr>
        <p:spPr>
          <a:xfrm>
            <a:off x="6199560" y="14446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7"/>
          <p:cNvSpPr/>
          <p:nvPr/>
        </p:nvSpPr>
        <p:spPr>
          <a:xfrm>
            <a:off x="6748200" y="1444680"/>
            <a:ext cx="2056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Suivi de colis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18"/>
          <p:cNvSpPr/>
          <p:nvPr/>
        </p:nvSpPr>
        <p:spPr>
          <a:xfrm>
            <a:off x="6199560" y="1993320"/>
            <a:ext cx="260532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Accessible sans connexion, affiche dimensions et destinataire en temps réel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19"/>
          <p:cNvSpPr/>
          <p:nvPr/>
        </p:nvSpPr>
        <p:spPr>
          <a:xfrm>
            <a:off x="201240" y="3063240"/>
            <a:ext cx="2833920" cy="1599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20"/>
          <p:cNvSpPr/>
          <p:nvPr/>
        </p:nvSpPr>
        <p:spPr>
          <a:xfrm>
            <a:off x="311040" y="3227760"/>
            <a:ext cx="456480" cy="456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21"/>
          <p:cNvSpPr/>
          <p:nvPr/>
        </p:nvSpPr>
        <p:spPr>
          <a:xfrm>
            <a:off x="311040" y="32277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22"/>
          <p:cNvSpPr/>
          <p:nvPr/>
        </p:nvSpPr>
        <p:spPr>
          <a:xfrm>
            <a:off x="859680" y="3227760"/>
            <a:ext cx="2056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Espace livreur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23"/>
          <p:cNvSpPr/>
          <p:nvPr/>
        </p:nvSpPr>
        <p:spPr>
          <a:xfrm>
            <a:off x="311040" y="3776400"/>
            <a:ext cx="260532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Gestion disponibilité, liste des colis à livrer, attribution automatique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24"/>
          <p:cNvSpPr/>
          <p:nvPr/>
        </p:nvSpPr>
        <p:spPr>
          <a:xfrm>
            <a:off x="3145680" y="3063240"/>
            <a:ext cx="2833920" cy="1599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25"/>
          <p:cNvSpPr/>
          <p:nvPr/>
        </p:nvSpPr>
        <p:spPr>
          <a:xfrm>
            <a:off x="3255120" y="3227760"/>
            <a:ext cx="456480" cy="456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26"/>
          <p:cNvSpPr/>
          <p:nvPr/>
        </p:nvSpPr>
        <p:spPr>
          <a:xfrm>
            <a:off x="3255120" y="32277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27"/>
          <p:cNvSpPr/>
          <p:nvPr/>
        </p:nvSpPr>
        <p:spPr>
          <a:xfrm>
            <a:off x="3803760" y="3227760"/>
            <a:ext cx="2056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Carte OpenStreetMap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28"/>
          <p:cNvSpPr/>
          <p:nvPr/>
        </p:nvSpPr>
        <p:spPr>
          <a:xfrm>
            <a:off x="3255120" y="3776400"/>
            <a:ext cx="260532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Choix du locker via marqueur géolocalisé (Leaflet.js)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29"/>
          <p:cNvSpPr/>
          <p:nvPr/>
        </p:nvSpPr>
        <p:spPr>
          <a:xfrm>
            <a:off x="6089760" y="3063240"/>
            <a:ext cx="2833920" cy="1599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30"/>
          <p:cNvSpPr/>
          <p:nvPr/>
        </p:nvSpPr>
        <p:spPr>
          <a:xfrm>
            <a:off x="6199560" y="3227760"/>
            <a:ext cx="456480" cy="456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31"/>
          <p:cNvSpPr/>
          <p:nvPr/>
        </p:nvSpPr>
        <p:spPr>
          <a:xfrm>
            <a:off x="6199560" y="32277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32"/>
          <p:cNvSpPr/>
          <p:nvPr/>
        </p:nvSpPr>
        <p:spPr>
          <a:xfrm>
            <a:off x="6748200" y="3227760"/>
            <a:ext cx="2056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Attribution auto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33"/>
          <p:cNvSpPr/>
          <p:nvPr/>
        </p:nvSpPr>
        <p:spPr>
          <a:xfrm>
            <a:off x="6199560" y="3776400"/>
            <a:ext cx="260532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Un livreur disponible est automatiquement assigné à chaque colis créé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API PHP &amp; Base de données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4"/>
          <p:cNvSpPr/>
          <p:nvPr/>
        </p:nvSpPr>
        <p:spPr>
          <a:xfrm>
            <a:off x="201240" y="1298520"/>
            <a:ext cx="4114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Endpoints API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5"/>
          <p:cNvSpPr/>
          <p:nvPr/>
        </p:nvSpPr>
        <p:spPr>
          <a:xfrm>
            <a:off x="201240" y="1719000"/>
            <a:ext cx="4114080" cy="365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6"/>
          <p:cNvSpPr/>
          <p:nvPr/>
        </p:nvSpPr>
        <p:spPr>
          <a:xfrm>
            <a:off x="201240" y="1719000"/>
            <a:ext cx="474840" cy="365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7"/>
          <p:cNvSpPr/>
          <p:nvPr/>
        </p:nvSpPr>
        <p:spPr>
          <a:xfrm>
            <a:off x="201240" y="1719000"/>
            <a:ext cx="474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POST</a:t>
            </a:r>
            <a:endParaRPr lang="fr-F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8"/>
          <p:cNvSpPr/>
          <p:nvPr/>
        </p:nvSpPr>
        <p:spPr>
          <a:xfrm>
            <a:off x="749880" y="1746360"/>
            <a:ext cx="338256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user.php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9"/>
          <p:cNvSpPr/>
          <p:nvPr/>
        </p:nvSpPr>
        <p:spPr>
          <a:xfrm>
            <a:off x="749880" y="1911240"/>
            <a:ext cx="3382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Inscription / Connexion client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10"/>
          <p:cNvSpPr/>
          <p:nvPr/>
        </p:nvSpPr>
        <p:spPr>
          <a:xfrm>
            <a:off x="201240" y="2157840"/>
            <a:ext cx="4114080" cy="36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11"/>
          <p:cNvSpPr/>
          <p:nvPr/>
        </p:nvSpPr>
        <p:spPr>
          <a:xfrm>
            <a:off x="201240" y="2157840"/>
            <a:ext cx="474840" cy="365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12"/>
          <p:cNvSpPr/>
          <p:nvPr/>
        </p:nvSpPr>
        <p:spPr>
          <a:xfrm>
            <a:off x="201240" y="2157840"/>
            <a:ext cx="474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POST</a:t>
            </a:r>
            <a:endParaRPr lang="fr-F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13"/>
          <p:cNvSpPr/>
          <p:nvPr/>
        </p:nvSpPr>
        <p:spPr>
          <a:xfrm>
            <a:off x="749880" y="2185560"/>
            <a:ext cx="338256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user.php?action=login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14"/>
          <p:cNvSpPr/>
          <p:nvPr/>
        </p:nvSpPr>
        <p:spPr>
          <a:xfrm>
            <a:off x="749880" y="2350080"/>
            <a:ext cx="3382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Connexion livreur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15"/>
          <p:cNvSpPr/>
          <p:nvPr/>
        </p:nvSpPr>
        <p:spPr>
          <a:xfrm>
            <a:off x="201240" y="2597040"/>
            <a:ext cx="4114080" cy="365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16"/>
          <p:cNvSpPr/>
          <p:nvPr/>
        </p:nvSpPr>
        <p:spPr>
          <a:xfrm>
            <a:off x="201240" y="2597040"/>
            <a:ext cx="474840" cy="365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17"/>
          <p:cNvSpPr/>
          <p:nvPr/>
        </p:nvSpPr>
        <p:spPr>
          <a:xfrm>
            <a:off x="201240" y="2597040"/>
            <a:ext cx="474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POST</a:t>
            </a:r>
            <a:endParaRPr lang="fr-F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18"/>
          <p:cNvSpPr/>
          <p:nvPr/>
        </p:nvSpPr>
        <p:spPr>
          <a:xfrm>
            <a:off x="749880" y="2624400"/>
            <a:ext cx="338256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colis.php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19"/>
          <p:cNvSpPr/>
          <p:nvPr/>
        </p:nvSpPr>
        <p:spPr>
          <a:xfrm>
            <a:off x="749880" y="2788920"/>
            <a:ext cx="3382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Créer un colis + attribuer livreur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20"/>
          <p:cNvSpPr/>
          <p:nvPr/>
        </p:nvSpPr>
        <p:spPr>
          <a:xfrm>
            <a:off x="201240" y="3035880"/>
            <a:ext cx="4114080" cy="36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21"/>
          <p:cNvSpPr/>
          <p:nvPr/>
        </p:nvSpPr>
        <p:spPr>
          <a:xfrm>
            <a:off x="201240" y="3035880"/>
            <a:ext cx="474840" cy="365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22"/>
          <p:cNvSpPr/>
          <p:nvPr/>
        </p:nvSpPr>
        <p:spPr>
          <a:xfrm>
            <a:off x="201240" y="3035880"/>
            <a:ext cx="474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GET</a:t>
            </a:r>
            <a:endParaRPr lang="fr-F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23"/>
          <p:cNvSpPr/>
          <p:nvPr/>
        </p:nvSpPr>
        <p:spPr>
          <a:xfrm>
            <a:off x="749880" y="3063240"/>
            <a:ext cx="338256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colis.php?track=XXX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24"/>
          <p:cNvSpPr/>
          <p:nvPr/>
        </p:nvSpPr>
        <p:spPr>
          <a:xfrm>
            <a:off x="749880" y="3227760"/>
            <a:ext cx="3382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Suivi d'un colis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25"/>
          <p:cNvSpPr/>
          <p:nvPr/>
        </p:nvSpPr>
        <p:spPr>
          <a:xfrm>
            <a:off x="201240" y="3474720"/>
            <a:ext cx="4114080" cy="365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26"/>
          <p:cNvSpPr/>
          <p:nvPr/>
        </p:nvSpPr>
        <p:spPr>
          <a:xfrm>
            <a:off x="201240" y="3474720"/>
            <a:ext cx="474840" cy="365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27"/>
          <p:cNvSpPr/>
          <p:nvPr/>
        </p:nvSpPr>
        <p:spPr>
          <a:xfrm>
            <a:off x="201240" y="3474720"/>
            <a:ext cx="474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GET</a:t>
            </a:r>
            <a:endParaRPr lang="fr-F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28"/>
          <p:cNvSpPr/>
          <p:nvPr/>
        </p:nvSpPr>
        <p:spPr>
          <a:xfrm>
            <a:off x="749880" y="3502080"/>
            <a:ext cx="338256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colis.php?user=ID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29"/>
          <p:cNvSpPr/>
          <p:nvPr/>
        </p:nvSpPr>
        <p:spPr>
          <a:xfrm>
            <a:off x="749880" y="3666600"/>
            <a:ext cx="3382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Colis d'un client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30"/>
          <p:cNvSpPr/>
          <p:nvPr/>
        </p:nvSpPr>
        <p:spPr>
          <a:xfrm>
            <a:off x="201240" y="3913560"/>
            <a:ext cx="4114080" cy="36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31"/>
          <p:cNvSpPr/>
          <p:nvPr/>
        </p:nvSpPr>
        <p:spPr>
          <a:xfrm>
            <a:off x="201240" y="3913560"/>
            <a:ext cx="474840" cy="365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32"/>
          <p:cNvSpPr/>
          <p:nvPr/>
        </p:nvSpPr>
        <p:spPr>
          <a:xfrm>
            <a:off x="201240" y="3913560"/>
            <a:ext cx="474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GET</a:t>
            </a:r>
            <a:endParaRPr lang="fr-F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33"/>
          <p:cNvSpPr/>
          <p:nvPr/>
        </p:nvSpPr>
        <p:spPr>
          <a:xfrm>
            <a:off x="749880" y="3940920"/>
            <a:ext cx="338256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account.php?id=ID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34"/>
          <p:cNvSpPr/>
          <p:nvPr/>
        </p:nvSpPr>
        <p:spPr>
          <a:xfrm>
            <a:off x="749880" y="4105800"/>
            <a:ext cx="3382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Infos compte + colis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35"/>
          <p:cNvSpPr/>
          <p:nvPr/>
        </p:nvSpPr>
        <p:spPr>
          <a:xfrm>
            <a:off x="201240" y="4352400"/>
            <a:ext cx="4114080" cy="365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36"/>
          <p:cNvSpPr/>
          <p:nvPr/>
        </p:nvSpPr>
        <p:spPr>
          <a:xfrm>
            <a:off x="201240" y="4352400"/>
            <a:ext cx="474840" cy="365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37"/>
          <p:cNvSpPr/>
          <p:nvPr/>
        </p:nvSpPr>
        <p:spPr>
          <a:xfrm>
            <a:off x="201240" y="4352400"/>
            <a:ext cx="474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POST</a:t>
            </a:r>
            <a:endParaRPr lang="fr-F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38"/>
          <p:cNvSpPr/>
          <p:nvPr/>
        </p:nvSpPr>
        <p:spPr>
          <a:xfrm>
            <a:off x="749880" y="4380120"/>
            <a:ext cx="338256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user.php?action=updateDispo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39"/>
          <p:cNvSpPr/>
          <p:nvPr/>
        </p:nvSpPr>
        <p:spPr>
          <a:xfrm>
            <a:off x="749880" y="4544640"/>
            <a:ext cx="3382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Disponibilité livreur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40"/>
          <p:cNvSpPr/>
          <p:nvPr/>
        </p:nvSpPr>
        <p:spPr>
          <a:xfrm>
            <a:off x="4572000" y="129852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Tables BDD (bddLocker)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41"/>
          <p:cNvSpPr/>
          <p:nvPr/>
        </p:nvSpPr>
        <p:spPr>
          <a:xfrm>
            <a:off x="4572000" y="1719000"/>
            <a:ext cx="4205520" cy="56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42"/>
          <p:cNvSpPr/>
          <p:nvPr/>
        </p:nvSpPr>
        <p:spPr>
          <a:xfrm>
            <a:off x="4572000" y="1719000"/>
            <a:ext cx="72360" cy="5662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43"/>
          <p:cNvSpPr/>
          <p:nvPr/>
        </p:nvSpPr>
        <p:spPr>
          <a:xfrm>
            <a:off x="4736520" y="1774080"/>
            <a:ext cx="3931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B6CA8"/>
                </a:solidFill>
                <a:effectLst/>
                <a:uFillTx/>
                <a:latin typeface="Consolas"/>
                <a:ea typeface="Consolas"/>
              </a:rPr>
              <a:t>Clients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44"/>
          <p:cNvSpPr/>
          <p:nvPr/>
        </p:nvSpPr>
        <p:spPr>
          <a:xfrm>
            <a:off x="4736520" y="202068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idClients, nom, prenom, email, telephone, mdp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45"/>
          <p:cNvSpPr/>
          <p:nvPr/>
        </p:nvSpPr>
        <p:spPr>
          <a:xfrm>
            <a:off x="4572000" y="2395800"/>
            <a:ext cx="4205520" cy="56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46"/>
          <p:cNvSpPr/>
          <p:nvPr/>
        </p:nvSpPr>
        <p:spPr>
          <a:xfrm>
            <a:off x="4572000" y="2395800"/>
            <a:ext cx="72360" cy="56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47"/>
          <p:cNvSpPr/>
          <p:nvPr/>
        </p:nvSpPr>
        <p:spPr>
          <a:xfrm>
            <a:off x="4736520" y="2450520"/>
            <a:ext cx="3931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Livreur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48"/>
          <p:cNvSpPr/>
          <p:nvPr/>
        </p:nvSpPr>
        <p:spPr>
          <a:xfrm>
            <a:off x="4736520" y="269748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idLivreur, nom, prenom, email, mdp, disponibilite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49"/>
          <p:cNvSpPr/>
          <p:nvPr/>
        </p:nvSpPr>
        <p:spPr>
          <a:xfrm>
            <a:off x="4572000" y="3072240"/>
            <a:ext cx="4205520" cy="56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50"/>
          <p:cNvSpPr/>
          <p:nvPr/>
        </p:nvSpPr>
        <p:spPr>
          <a:xfrm>
            <a:off x="4572000" y="3072240"/>
            <a:ext cx="72360" cy="566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51"/>
          <p:cNvSpPr/>
          <p:nvPr/>
        </p:nvSpPr>
        <p:spPr>
          <a:xfrm>
            <a:off x="4736520" y="3127320"/>
            <a:ext cx="3931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B4D8"/>
                </a:solidFill>
                <a:effectLst/>
                <a:uFillTx/>
                <a:latin typeface="Consolas"/>
                <a:ea typeface="Consolas"/>
              </a:rPr>
              <a:t>Colis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52"/>
          <p:cNvSpPr/>
          <p:nvPr/>
        </p:nvSpPr>
        <p:spPr>
          <a:xfrm>
            <a:off x="4736520" y="337428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idColis, num_colis, longueur, largeur, hauteur, destinataire, FK Clients, FK Livreur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53"/>
          <p:cNvSpPr/>
          <p:nvPr/>
        </p:nvSpPr>
        <p:spPr>
          <a:xfrm>
            <a:off x="4572000" y="3749040"/>
            <a:ext cx="4205520" cy="56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54"/>
          <p:cNvSpPr/>
          <p:nvPr/>
        </p:nvSpPr>
        <p:spPr>
          <a:xfrm>
            <a:off x="4572000" y="3749040"/>
            <a:ext cx="72360" cy="56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55"/>
          <p:cNvSpPr/>
          <p:nvPr/>
        </p:nvSpPr>
        <p:spPr>
          <a:xfrm>
            <a:off x="4736520" y="3803760"/>
            <a:ext cx="3931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Locker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56"/>
          <p:cNvSpPr/>
          <p:nvPr/>
        </p:nvSpPr>
        <p:spPr>
          <a:xfrm>
            <a:off x="4736520" y="405072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idLocker, adresse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57"/>
          <p:cNvSpPr/>
          <p:nvPr/>
        </p:nvSpPr>
        <p:spPr>
          <a:xfrm>
            <a:off x="4572000" y="4425840"/>
            <a:ext cx="4205520" cy="56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58"/>
          <p:cNvSpPr/>
          <p:nvPr/>
        </p:nvSpPr>
        <p:spPr>
          <a:xfrm>
            <a:off x="4572000" y="4425840"/>
            <a:ext cx="72360" cy="566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59"/>
          <p:cNvSpPr/>
          <p:nvPr/>
        </p:nvSpPr>
        <p:spPr>
          <a:xfrm>
            <a:off x="4736520" y="4480560"/>
            <a:ext cx="3931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Casier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60"/>
          <p:cNvSpPr/>
          <p:nvPr/>
        </p:nvSpPr>
        <p:spPr>
          <a:xfrm>
            <a:off x="4736520" y="472752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idCasier, num_casier, FK Locker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Diagrammes UML — Vue globale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5" name="Image 0" descr="preencoded.png"/>
          <p:cNvPicPr/>
          <p:nvPr/>
        </p:nvPicPr>
        <p:blipFill>
          <a:blip r:embed="rId1"/>
          <a:stretch/>
        </p:blipFill>
        <p:spPr>
          <a:xfrm>
            <a:off x="201240" y="1261800"/>
            <a:ext cx="8740800" cy="374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6" name="Text 4"/>
          <p:cNvSpPr/>
          <p:nvPr/>
        </p:nvSpPr>
        <p:spPr>
          <a:xfrm>
            <a:off x="201240" y="4892040"/>
            <a:ext cx="874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Diagramme de cas d'utilisation global — Projet LOCKER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Diagramme de séquence &amp; diagrammes d'état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1" name="Image 0" descr="preencoded.png"/>
          <p:cNvPicPr/>
          <p:nvPr/>
        </p:nvPicPr>
        <p:blipFill>
          <a:blip r:embed="rId1"/>
          <a:stretch/>
        </p:blipFill>
        <p:spPr>
          <a:xfrm>
            <a:off x="2183040" y="1326600"/>
            <a:ext cx="5016960" cy="347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2" name="Text 4"/>
          <p:cNvSpPr/>
          <p:nvPr/>
        </p:nvSpPr>
        <p:spPr>
          <a:xfrm>
            <a:off x="2340000" y="4812120"/>
            <a:ext cx="4296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Diagramme de séquence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Shape 59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62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65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Diagramme de séquence &amp; diagrammes d'état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60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7" name="Image 9" descr="preencoded.png"/>
          <p:cNvPicPr/>
          <p:nvPr/>
        </p:nvPicPr>
        <p:blipFill>
          <a:blip r:embed="rId1"/>
          <a:stretch/>
        </p:blipFill>
        <p:spPr>
          <a:xfrm>
            <a:off x="450720" y="1440000"/>
            <a:ext cx="8326800" cy="340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" name="Text 69"/>
          <p:cNvSpPr/>
          <p:nvPr/>
        </p:nvSpPr>
        <p:spPr>
          <a:xfrm>
            <a:off x="2997360" y="4860000"/>
            <a:ext cx="4022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État — Création de compte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Shape 48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57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61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Diagramme de séquence &amp; diagrammes d'état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55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3" name="Image 5" descr="preencoded.png"/>
          <p:cNvPicPr/>
          <p:nvPr/>
        </p:nvPicPr>
        <p:blipFill>
          <a:blip r:embed="rId1"/>
          <a:stretch/>
        </p:blipFill>
        <p:spPr>
          <a:xfrm>
            <a:off x="240480" y="1234800"/>
            <a:ext cx="4229640" cy="362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4" name="Text 63"/>
          <p:cNvSpPr/>
          <p:nvPr/>
        </p:nvSpPr>
        <p:spPr>
          <a:xfrm>
            <a:off x="960480" y="4860000"/>
            <a:ext cx="1919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État — Connexion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5" name="Image 6" descr="preencoded.png"/>
          <p:cNvPicPr/>
          <p:nvPr/>
        </p:nvPicPr>
        <p:blipFill>
          <a:blip r:embed="rId2"/>
          <a:stretch/>
        </p:blipFill>
        <p:spPr>
          <a:xfrm>
            <a:off x="4600800" y="1280160"/>
            <a:ext cx="4176720" cy="357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6" name="Text 64"/>
          <p:cNvSpPr/>
          <p:nvPr/>
        </p:nvSpPr>
        <p:spPr>
          <a:xfrm>
            <a:off x="5760000" y="4860000"/>
            <a:ext cx="1919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État — Suivi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Diagramme d'exigences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1" name="Image 0" descr="preencoded.png"/>
          <p:cNvPicPr/>
          <p:nvPr/>
        </p:nvPicPr>
        <p:blipFill>
          <a:blip r:embed="rId1"/>
          <a:stretch/>
        </p:blipFill>
        <p:spPr>
          <a:xfrm>
            <a:off x="201240" y="1261800"/>
            <a:ext cx="8740800" cy="374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Planning du projet — Diagramme de Gantt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6" name="Image 0" descr="preencoded.png"/>
          <p:cNvPicPr/>
          <p:nvPr/>
        </p:nvPicPr>
        <p:blipFill>
          <a:blip r:embed="rId1"/>
          <a:stretch/>
        </p:blipFill>
        <p:spPr>
          <a:xfrm>
            <a:off x="201240" y="1261800"/>
            <a:ext cx="8740800" cy="374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1"/>
          <p:cNvSpPr/>
          <p:nvPr/>
        </p:nvSpPr>
        <p:spPr>
          <a:xfrm>
            <a:off x="201240" y="164520"/>
            <a:ext cx="913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2"/>
          <p:cNvSpPr/>
          <p:nvPr/>
        </p:nvSpPr>
        <p:spPr>
          <a:xfrm>
            <a:off x="201240" y="502920"/>
            <a:ext cx="8686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Ce qui reste à faire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3"/>
          <p:cNvSpPr/>
          <p:nvPr/>
        </p:nvSpPr>
        <p:spPr>
          <a:xfrm>
            <a:off x="200880" y="1115280"/>
            <a:ext cx="8686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4"/>
          <p:cNvSpPr/>
          <p:nvPr/>
        </p:nvSpPr>
        <p:spPr>
          <a:xfrm>
            <a:off x="201240" y="1261800"/>
            <a:ext cx="4114080" cy="3565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5"/>
          <p:cNvSpPr/>
          <p:nvPr/>
        </p:nvSpPr>
        <p:spPr>
          <a:xfrm>
            <a:off x="201240" y="1261800"/>
            <a:ext cx="4114080" cy="456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6"/>
          <p:cNvSpPr/>
          <p:nvPr/>
        </p:nvSpPr>
        <p:spPr>
          <a:xfrm>
            <a:off x="320040" y="1261800"/>
            <a:ext cx="3839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✅  Réalisé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7"/>
          <p:cNvSpPr/>
          <p:nvPr/>
        </p:nvSpPr>
        <p:spPr>
          <a:xfrm>
            <a:off x="320040" y="182880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✓  Site web React (login, register, colis, suivi, livreur)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8"/>
          <p:cNvSpPr/>
          <p:nvPr/>
        </p:nvSpPr>
        <p:spPr>
          <a:xfrm>
            <a:off x="320040" y="224928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✓  API PHP (user, colis, account, track)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9"/>
          <p:cNvSpPr/>
          <p:nvPr/>
        </p:nvSpPr>
        <p:spPr>
          <a:xfrm>
            <a:off x="320040" y="267012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✓  Base de données MySQL connectée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10"/>
          <p:cNvSpPr/>
          <p:nvPr/>
        </p:nvSpPr>
        <p:spPr>
          <a:xfrm>
            <a:off x="320040" y="309060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✓  Validation formulaires côté front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11"/>
          <p:cNvSpPr/>
          <p:nvPr/>
        </p:nvSpPr>
        <p:spPr>
          <a:xfrm>
            <a:off x="320040" y="351144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✓  Carte OpenStreetMap intégrée (Leaflet.js)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12"/>
          <p:cNvSpPr/>
          <p:nvPr/>
        </p:nvSpPr>
        <p:spPr>
          <a:xfrm>
            <a:off x="320040" y="393192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✓  Attribution automatique d'un livreur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13"/>
          <p:cNvSpPr/>
          <p:nvPr/>
        </p:nvSpPr>
        <p:spPr>
          <a:xfrm>
            <a:off x="320040" y="435240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✓  Maquette physique (casiers + électronique)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14"/>
          <p:cNvSpPr/>
          <p:nvPr/>
        </p:nvSpPr>
        <p:spPr>
          <a:xfrm>
            <a:off x="4572000" y="1261800"/>
            <a:ext cx="4205520" cy="3565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15"/>
          <p:cNvSpPr/>
          <p:nvPr/>
        </p:nvSpPr>
        <p:spPr>
          <a:xfrm>
            <a:off x="4572000" y="1261800"/>
            <a:ext cx="4205520" cy="456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16"/>
          <p:cNvSpPr/>
          <p:nvPr/>
        </p:nvSpPr>
        <p:spPr>
          <a:xfrm>
            <a:off x="4681800" y="1261800"/>
            <a:ext cx="3931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🔧  À faire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17"/>
          <p:cNvSpPr/>
          <p:nvPr/>
        </p:nvSpPr>
        <p:spPr>
          <a:xfrm>
            <a:off x="4681800" y="182880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○  Double authentification (2FA)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18"/>
          <p:cNvSpPr/>
          <p:nvPr/>
        </p:nvSpPr>
        <p:spPr>
          <a:xfrm>
            <a:off x="4681800" y="231336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○  Génération </a:t>
            </a: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PDF avec QR </a:t>
            </a: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code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19"/>
          <p:cNvSpPr/>
          <p:nvPr/>
        </p:nvSpPr>
        <p:spPr>
          <a:xfrm>
            <a:off x="4681800" y="279792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○  Notifications SMS &amp; email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20"/>
          <p:cNvSpPr/>
          <p:nvPr/>
        </p:nvSpPr>
        <p:spPr>
          <a:xfrm>
            <a:off x="4681800" y="328284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○  Application mobile livreur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21"/>
          <p:cNvSpPr/>
          <p:nvPr/>
        </p:nvSpPr>
        <p:spPr>
          <a:xfrm>
            <a:off x="4681800" y="376740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○  Programmation Raspberry Pi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22"/>
          <p:cNvSpPr/>
          <p:nvPr/>
        </p:nvSpPr>
        <p:spPr>
          <a:xfrm>
            <a:off x="4681800" y="425196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○  Tests d'intégration complets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1"/>
          <p:cNvSpPr/>
          <p:nvPr/>
        </p:nvSpPr>
        <p:spPr>
          <a:xfrm>
            <a:off x="365760" y="1005840"/>
            <a:ext cx="84117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Merci pour votre attention</a:t>
            </a:r>
            <a:endParaRPr lang="fr-FR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2"/>
          <p:cNvSpPr/>
          <p:nvPr/>
        </p:nvSpPr>
        <p:spPr>
          <a:xfrm>
            <a:off x="365760" y="2331720"/>
            <a:ext cx="4572000" cy="360"/>
          </a:xfrm>
          <a:prstGeom prst="line">
            <a:avLst/>
          </a:prstGeom>
          <a:ln w="254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3"/>
          <p:cNvSpPr/>
          <p:nvPr/>
        </p:nvSpPr>
        <p:spPr>
          <a:xfrm>
            <a:off x="365760" y="2514600"/>
            <a:ext cx="8228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Projet Locker  —  BTS CIEL IR  |  Session 2026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B4C8"/>
                </a:solidFill>
                <a:effectLst/>
                <a:uFillTx/>
                <a:latin typeface="Calibri"/>
                <a:ea typeface="Calibri"/>
              </a:rPr>
              <a:t>Cité scolaire Mauriac-Desgranges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5"/>
          <p:cNvSpPr/>
          <p:nvPr/>
        </p:nvSpPr>
        <p:spPr>
          <a:xfrm>
            <a:off x="365760" y="3429000"/>
            <a:ext cx="2010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LibreOffice/26.2.0.3$Windows_X86_64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2026-06-04T11:29:20Z</dcterms:created>
  <dc:creator>PptxGenJS</dc:creator>
  <dc:description/>
  <dc:language>fr-FR</dc:language>
  <cp:lastModifiedBy/>
  <dcterms:modified xsi:type="dcterms:W3CDTF">2026-06-04T13:44:17Z</dcterms:modified>
  <cp:revision>8</cp:revision>
  <dc:subject>PptxGenJS Presentation</dc:subject>
  <dc:title>Projet Locker – Revue de Projet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25</vt:i4>
  </property>
  <property fmtid="{D5CDD505-2E9C-101B-9397-08002B2CF9AE}" pid="3" name="PresentationFormat">
    <vt:lpwstr>On-screen Show (16:9)</vt:lpwstr>
  </property>
  <property fmtid="{D5CDD505-2E9C-101B-9397-08002B2CF9AE}" pid="4" name="Slides">
    <vt:i4>25</vt:i4>
  </property>
</Properties>
</file>